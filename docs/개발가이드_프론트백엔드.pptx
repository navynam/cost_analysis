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견적 원가 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C8C8"/>
                </a:solidFill>
              </a:defRPr>
            </a:pPr>
            <a:r>
              <a:t>개발 가이드 (프론트엔드 &amp; 백엔드)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</a:defRPr>
            </a:pPr>
            <a:r>
              <a:t>React 18 + Spring Boot 3.2 + PostgreSQL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t>v2.0  |  2026.04.08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600">
                <a:solidFill>
                  <a:srgbClr val="003875"/>
                </a:solidFill>
              </a:defRPr>
            </a:pPr>
            <a:r>
              <a:t>Part 1: 전체 아키텍처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1. 시스템 구성도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2. 기술 스택 (프론트/백엔드)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3. 프로파일 &amp; 실행 모드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</a:p>
          <a:p>
            <a:pPr>
              <a:spcAft>
                <a:spcPts val="300"/>
              </a:spcAft>
              <a:defRPr b="1" sz="1600">
                <a:solidFill>
                  <a:srgbClr val="2E7D32"/>
                </a:solidFill>
              </a:defRPr>
            </a:pPr>
            <a:r>
              <a:t>Part 2: 프론트엔드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4. 프로젝트 구조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5. Feature 모듈 패턴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6. API 연동 가이드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7. CSS Module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600">
                <a:solidFill>
                  <a:srgbClr val="E65100"/>
                </a:solidFill>
              </a:defRPr>
            </a:pPr>
            <a:r>
              <a:t>Part 3: 백엔드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8. 패키지 구조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9. 도메인 모듈 패턴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10. Mock 프로파일 가이드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11. API 개발 패턴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</a:p>
          <a:p>
            <a:pPr>
              <a:spcAft>
                <a:spcPts val="300"/>
              </a:spcAft>
              <a:defRPr b="1" sz="1600">
                <a:solidFill>
                  <a:srgbClr val="7B1FA2"/>
                </a:solidFill>
              </a:defRPr>
            </a:pPr>
            <a:r>
              <a:t>Part 4: 연동 &amp; 배포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12. 프론트 ↔ 백엔드 연동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13. Docker 배포</a:t>
            </a:r>
          </a:p>
          <a:p>
            <a:pPr>
              <a:spcAft>
                <a:spcPts val="300"/>
              </a:spcAft>
              <a:defRPr sz="1400">
                <a:solidFill>
                  <a:srgbClr val="0A1628"/>
                </a:solidFill>
              </a:defRPr>
            </a:pPr>
            <a:r>
              <a:t>14. Quick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1. 시스템 구성도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188720"/>
            <a:ext cx="4572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234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4FF"/>
                </a:solidFill>
              </a:defRPr>
            </a:pPr>
            <a:r>
              <a:t>Browser (React 18)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4572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2331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Nginx :80 (정적파일 + /api 프록시)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383280"/>
            <a:ext cx="4572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429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0012"/>
                </a:solidFill>
              </a:defRPr>
            </a:pPr>
            <a:r>
              <a:t>Spring Boot :8080 (REST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918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6791"/>
                </a:solidFill>
              </a:defRPr>
            </a:pPr>
            <a:r>
              <a:t>PostgreSQL</a:t>
            </a:r>
            <a:br/>
            <a:r>
              <a:t>:5432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5720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46177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545"/>
                </a:solidFill>
              </a:defRPr>
            </a:pPr>
            <a:r>
              <a:t>Redis</a:t>
            </a:r>
            <a:br/>
            <a:r>
              <a:t>:6379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5720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6177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t>MinIO</a:t>
            </a:r>
            <a:br/>
            <a:r>
              <a:t>:9000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57200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617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1FA2"/>
                </a:solidFill>
              </a:defRPr>
            </a:pPr>
            <a:r>
              <a:t>Claude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03875"/>
                </a:solidFill>
              </a:defRPr>
            </a:pPr>
            <a:r>
              <a:t>개발 모드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React dev server(:3000) → setupProxy.js → Spring Boot(:8080)     |     </a:t>
            </a:r>
          </a:p>
          <a:p>
            <a:pPr>
              <a:spcAft>
                <a:spcPts val="300"/>
              </a:spcAft>
              <a:defRPr b="1" sz="1100">
                <a:solidFill>
                  <a:srgbClr val="2E7D32"/>
                </a:solidFill>
              </a:defRPr>
            </a:pPr>
            <a:r>
              <a:t>운영 모드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Nginx(:80) → React build + /api → Spring Boot(:8080)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2. 기술 스택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Frontend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t>프론트엔드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3035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30175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18.2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UI 프레임워크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5.9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타입 안전성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UI 컴포넌트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Axios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1.14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HTTP 클라이언트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React 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6.20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SPA 라우팅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Recharts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2.10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차트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SheetJS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0.18.5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Excel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CSS Modules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스타일 분리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</a:defRPr>
            </a:pPr>
            <a:r>
              <a:t>백엔드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71600"/>
          <a:ext cx="53035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30175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Spring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3.2.4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17 LTS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백엔드 개발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Spring Data JPA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메인 DB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캐시/JWT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파일 스토리지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JWT (jjwt)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0.12.5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토큰 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3.9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배포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3. 프로파일 &amp; 실행 모드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Development Profiles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828800"/>
                <a:gridCol w="1097280"/>
                <a:gridCol w="420624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프론트 USE_API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백엔드 Profile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DB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로컬 단독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불필요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프론트만 실행, localStorage/mock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Mock 연동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mock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H2 (인메모리)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프론트+백엔드, DB 설치 불필요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Dev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프론트+백엔드+DB (Docker)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(기본)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Nginx+Spring Boot+DB (Docker)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47472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프론트엔드 API 토글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// src/shared/api/config.ts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export const USE_API = true;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// true  → 백엔드 API 호출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// false → localStorage/mock (백엔드 불필요)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API 실패 시 자동으로 로컬 데이터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백엔드 Mock 프로파일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# 실행 방법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set SPRING_PROFILES_ACTIVE=mock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./gradlew bootRun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# Mock 모드 특징: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DB/Redis/MinIO 연결 없음 (H2 인메모리)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JWT 인증 없이 모든 API 허용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인메모리 목업 데이터 (프론트 동일)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4. 프론트엔드 프로젝트 구조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React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003875"/>
                </a:solidFill>
              </a:defRPr>
            </a:pPr>
            <a:r>
              <a:t>src/features/ (도메인 모듈)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analysis/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원가 분석 (표준/리스트/관계도/골든셋)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auth/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로그인 (사번 인증)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comparison/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견적서 비교 (3단계)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dashboard/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대시보드 (현황/알림)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history/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이력/알림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insight/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AI 인사이트 채팅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model-management/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모델관리 + 변경요청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parsing/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견적서 분석 (카드/리스트)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settings/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설정 (프로필/비밀번호/테마)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verification/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데이터 검증 (좌우 분할)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2E7D32"/>
                </a:solidFill>
              </a:defRPr>
            </a:pPr>
            <a:r>
              <a:t>각 Feature 모듈 구조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features/{name}/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{Name}Page.tsx           페이지 컴포넌트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{Name}Page.module.css    CSS Module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components/              하위 컴포넌트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data/                    목업 데이터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hooks/                   UI 상태 (useState)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services/                API + 비즈니스 로직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└── types.ts                 타입 정의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400">
                <a:solidFill>
                  <a:srgbClr val="7B1FA2"/>
                </a:solidFill>
              </a:defRPr>
            </a:pPr>
            <a:r>
              <a:t>src/shared/ (공통)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api/                     apiClient + config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components/              SmartGuide 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constants/               colors.ts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layouts/                 MainLayout, Sidebar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└── styles/                  tableStyles.ts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5. Feature 모듈 패턴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Layer Responsibilities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3200400"/>
                <a:gridCol w="48463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레이어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파일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책임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규칙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XxxPage.tsx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화면 구성, 레이아웃, 이벤트 핸들링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Hook/Service만 호출, 비즈니스 로직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components/*.tsx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재사용 UI 컴포넌트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props로 데이터 전달, 상태 최소화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hooks/useXxx.ts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UI 상태 (useState, useEffect)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모달/탭/폼 상태, Service 함수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services/xxxService.ts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API 호출, 데이터 변환, localStorage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apiClient 사용, USE_API 분기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types.ts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인터페이스/타입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Entity 직접 노출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*.module.css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레이아웃 스타일만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fontSize/fontWeight/color는 sx에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11480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서비스 함수 패턴 (API + Fallback)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// 1. 로컬 함수 (fallback)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export const loadFormulasLocal = (): Formula[] =&gt; { localStorage... };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// 2. API 함수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export const fetchFormulasApi = async () =&gt; { return apiClient.get('/models/formulas'); };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// 3. 통합 함수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export const getFormulas = async () =&gt; { if (USE_API) { try { return fetchFormulasApi(); } catch { return loadFormulasLocal(); } } 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6. API 연동 가이드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Frontend → Backend Communication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914400"/>
                <a:gridCol w="3657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프론트 서비스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API 엔드포인트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authService.loginApi()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로그인 → JWT 토큰 발급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parsingService.fetchQuotationsApi()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견적서 목록 (필터/검색)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parsingService.uploadFilesApi()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파일 업로드 (multipart)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dashboardService.fetchDashboardStatsApi()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/api/v1/dashboard/stats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대시보드 통계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modelService.fetchFormulasApi()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/api/v1/models/formulas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수식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modelService.createFormulaApi()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/api/v1/models/formulas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수식 추가 (ADMIN)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workflowService.fetchChangeRequestsApi()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/api/v1/models/change-requests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변경 요청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workflowService.approveRequestApi()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/api/v1/.../approve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승인 (ADMIN)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historyService.fetchNotificationsApi()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알림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insightService.sendMessageApi()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/api/v1/insights/sessions/{id}/chat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AI 채팅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7. CSS Module 규칙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Styling Convention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CSS Module에 넣는 것 (레이아웃)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display: flex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flex-direction: column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align-items: center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justify-content: space-between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overflow: hidden / auto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border-radius: 12px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transition: all 0.2s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cursor: pointer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text-overflow: ellipsis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✅ white-space: nowrap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사용법: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import styles from './Page.module.css';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&lt;Box className={styles.container}&gt;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0012"/>
                </a:solidFill>
              </a:defRPr>
            </a:pPr>
            <a:r>
              <a:t>MUI sx에 유지하는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❌ fontSize → MUI Typography와 충돌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❌ fontWeight → 같은 이유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❌ color → 동적 값 + MUI 테마 참조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❌ backgroundColor → 동적 값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❌ padding/margin → MUI spacing 단위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❌ 동적 값 (${variable})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❌ MUI 선택자 (&amp;:hover, &amp;.Mui-*)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올바른 예: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&lt;Typography sx={{ fontSize: 14,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fontWeight: 700, color: "#333" }}&gt;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E60012"/>
                </a:solidFill>
              </a:defRPr>
            </a:pPr>
            <a:r>
              <a:t>잘못된 예: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// .title { font-size: 14px; }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// → MUI 기본 16px와 충돌!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8. 백엔드 패키지 구조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Spring Boot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E65100"/>
                </a:solidFill>
              </a:defRPr>
            </a:pPr>
            <a:r>
              <a:t>domain/ (10개 도메인)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auth/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로그인 (JWT 발급, 5회 잠금)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user/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사용자 관리 (프로필, 비밀번호)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quotation/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견적서 파싱 + 노트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verification/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데이터 검증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analysis/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원가 분석 + 골든셋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comparison/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견적서 비교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model/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수식 관리 + 변경 요청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insight/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AI 인사이트 (Claude API)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notification/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알림/이력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dashboard/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대시보드 통계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003875"/>
                </a:solidFill>
              </a:defRPr>
            </a:pPr>
            <a:r>
              <a:t>각 도메인 모듈 구조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domain/{name}/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controller/    REST API (@RestController)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dto/           요청/응답 DTO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entity/        JPA Entity (@Entity)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repository/    Spring Data JPA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└── service/       비즈니스 로직 (@Service)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400">
                <a:solidFill>
                  <a:srgbClr val="7B1FA2"/>
                </a:solidFill>
              </a:defRPr>
            </a:pPr>
            <a:r>
              <a:t>global/ (공통 인프라)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config/    Security, CORS, MinIO, WebClient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security/  JWT 토큰 발급/검증, 인증 필터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exception/ ErrorCode, BusinessException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response/  ApiResponse (공통 응답)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├── storage/   MinIO 파일 업/다운로드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└── mock/      목업 모드 전용 빈/서비스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9. 백엔드 도메인 모듈 패턴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Spring Boot Coding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레이어 규칙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0292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레이어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책임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규칙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HTTP 요청/응답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비즈니스 로직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비즈니스 로직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@Transactional 사용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데이터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JPA 쿼리 메서드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DB 매핑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Lombok @Getter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데이터 전달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Entity 직접 노출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어노테이션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실제 서비스 (DB 사용)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@Service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@Profile("!mock")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@RequiredArgsConstructor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@Transactional(readOnly = true)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목업 서비스 (인메모리)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@Service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@Profile("mock")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컨트롤러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@RestController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@RequestMapping("/api/v1/...")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@RequiredArgsConstructor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E60012"/>
                </a:solidFill>
              </a:defRPr>
            </a:pPr>
            <a:r>
              <a:t>관리자 전용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@PreAuthorize("hasRole('ADMIN')")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10. Mock 프로파일 가이드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Running without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Mock 모드란?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DB/Redis/MinIO 없이 백엔드 독립 실행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특징: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H2 인메모리 DB (자동 생성/삭제)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JWT 인증 없이 모든 API 허용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인메모리 목업 데이터 (프론트와 동일)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서버 재시작 시 데이터 초기화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목업 데이터: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사용자 3명 (관리자 1 + 일반 2)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견적서 20건 (6개 상태 분포)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수식 4개 + 변경요청 2건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알림 5건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구현 위치: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global/mock/MockDataStore.java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global/mock/MockSecurityConfig.java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domain/*/service/Mock*Service.java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실행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Windows: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set SPRING_PROFILES_ACTIVE=mock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gradlew bootRun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Mac/Linux: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SPRING_PROFILES_ACTIVE=mock ./gradlew bootRun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IntelliJ: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Run Configuration → Active profiles: mock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확인: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curl http://localhost:8080/api/v1/quotations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curl http://localhost:8080/api/v1/models/formulas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Swagger UI: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http://localhost:8080/swagger-ui/index.html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12. 프론트 ↔ 백엔드 연동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Integration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0972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t>Quick Start — 3단계로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E65100"/>
                </a:solidFill>
              </a:defRPr>
            </a:pPr>
            <a:r>
              <a:t>Step 1: 백엔드 시작</a:t>
            </a:r>
          </a:p>
          <a:p>
            <a:pPr>
              <a:spcAft>
                <a:spcPts val="300"/>
              </a:spcAft>
              <a:defRPr sz="1200">
                <a:solidFill>
                  <a:srgbClr val="191F28"/>
                </a:solidFill>
              </a:defRPr>
            </a:pPr>
            <a:r>
              <a:t>  cd cost-analysis-was &amp;&amp; set SPRING_PROFILES_ACTIVE=mock &amp;&amp; gradlew bootRun</a:t>
            </a:r>
          </a:p>
          <a:p>
            <a:pPr>
              <a:spcAft>
                <a:spcPts val="300"/>
              </a:spcAft>
              <a:defRPr sz="12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300">
                <a:solidFill>
                  <a:srgbClr val="2E7D32"/>
                </a:solidFill>
              </a:defRPr>
            </a:pPr>
            <a:r>
              <a:t>Step 2: 프론트엔드 시작</a:t>
            </a:r>
          </a:p>
          <a:p>
            <a:pPr>
              <a:spcAft>
                <a:spcPts val="300"/>
              </a:spcAft>
              <a:defRPr sz="1200">
                <a:solidFill>
                  <a:srgbClr val="191F28"/>
                </a:solidFill>
              </a:defRPr>
            </a:pPr>
            <a:r>
              <a:t>  cd cost-analysis-src &amp;&amp; npm start      (USE_API = true 확인)</a:t>
            </a:r>
          </a:p>
          <a:p>
            <a:pPr>
              <a:spcAft>
                <a:spcPts val="300"/>
              </a:spcAft>
              <a:defRPr sz="12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300">
                <a:solidFill>
                  <a:srgbClr val="003875"/>
                </a:solidFill>
              </a:defRPr>
            </a:pPr>
            <a:r>
              <a:t>Step 3: 브라우저 확인</a:t>
            </a:r>
          </a:p>
          <a:p>
            <a:pPr>
              <a:spcAft>
                <a:spcPts val="300"/>
              </a:spcAft>
              <a:defRPr sz="1200">
                <a:solidFill>
                  <a:srgbClr val="191F28"/>
                </a:solidFill>
              </a:defRPr>
            </a:pPr>
            <a:r>
              <a:t>  http://localhost:3000/COST_ANALYSIS    (F12 Network에서 /api 요청 확인)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840480"/>
          <a:ext cx="10972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828800"/>
                <a:gridCol w="3657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프론트 localStorage 키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백엔드 API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Mock 데이터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전환 상태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cost-analysis-formulas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 /api/v1/models/formulas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4개 수식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✅ API 전환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cost-analysis-change-requests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 /api/v1/models/change-requests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2건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✅ API 전환 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cost-analysis-current-user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 /api/v1/users/me (JWT)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김관리(ADMIN)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✅ API 전환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parsing-notes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 /api/v1/quotations/notes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0건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✅ API 전환 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(initialFiles)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GET /api/v1/quotations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20건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✅ API 전환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guide-dismissed-{path}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프론트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DB 불필요 (UI 설정)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개발 가이드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13. Docker 배포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Production Deployment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18872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서비스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이미지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포트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nginx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nginx:1.25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:80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웹서버 + 리버스 프록시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Dockerfile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:8080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Spring Boot WAS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postgres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postgres:16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:5432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메인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redis:7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:6379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캐시 + JWT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minio:latest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:9000/9001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파일 스토리지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188720"/>
            <a:ext cx="43891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배포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1. 환경 변수 설정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cd cost-analysis-was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cp .env.example .env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vim .env  # 비밀번호 설정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2. 프론트엔드 빌드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cd ../cost-analysis-src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npm run build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3. Docker 실행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cd ../cost-analysis-was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docker-compose up -d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4. 접속 확인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프론트: http://localhost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API: http://localhost:8080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Swagger: .../swagger-ui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MinIO: http://localhost:9001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Happy Coding!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</a:defRPr>
            </a:pPr>
            <a:r>
              <a:t>견적 원가 분석 시스템 — 개발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