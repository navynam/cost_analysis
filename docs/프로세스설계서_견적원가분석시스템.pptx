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presProps" Target="presProps.xml"  /><Relationship Id="rId21" Type="http://schemas.openxmlformats.org/officeDocument/2006/relationships/viewProps" Target="viewProps.xml"  /><Relationship Id="rId22" Type="http://schemas.openxmlformats.org/officeDocument/2006/relationships/theme" Target="theme/theme1.xml"  /><Relationship Id="rId23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견적 원가 분석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C8C8"/>
                </a:solidFill>
              </a:defRPr>
            </a:pPr>
            <a:r>
              <a:t>프로세스 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</a:defRPr>
            </a:pPr>
            <a:r>
              <a:t>현대모비스  |  원가관리팀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</a:defRPr>
            </a:pPr>
            <a:r>
              <a:t>v2.0  |  2026.04.07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프로세스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목차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1.  전체 업무 프로세스 흐름 (메인 워크플로우)</a:t>
            </a:r>
          </a:p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2.  상태 전이도</a:t>
            </a:r>
          </a:p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3.  [1단계] 파일 업로드 및 데이터 추출</a:t>
            </a:r>
          </a:p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4.  [2단계] 데이터 검증</a:t>
            </a:r>
          </a:p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5.  [3단계] 원가 분석</a:t>
            </a:r>
          </a:p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6.  [3단계] 이상치 감지 프로세스</a:t>
            </a:r>
          </a:p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7.  [4단계] 견적서 비교</a:t>
            </a:r>
          </a:p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8.  [5단계] 결과 저장 및 ERP 등록</a:t>
            </a:r>
          </a:p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9.  모델관리 워크플로우 - 수식 관리</a:t>
            </a:r>
          </a:p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10. 모델관리 워크플로우 - 변경 요청 프로세스</a:t>
            </a:r>
          </a:p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11. 모델관리 워크플로우 - 부서별 모델 적용</a:t>
            </a:r>
          </a:p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12. 사용자 역할 및 권한 매트릭스</a:t>
            </a:r>
          </a:p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13. 데이터 흐름도</a:t>
            </a:r>
          </a:p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14. 알림 및 액션 센터</a:t>
            </a:r>
          </a:p>
          <a:p>
            <a:pPr>
              <a:spcAft>
                <a:spcPts val="400"/>
              </a:spcAft>
              <a:defRPr sz="1600">
                <a:solidFill>
                  <a:srgbClr val="0A1628"/>
                </a:solidFill>
              </a:defRPr>
            </a:pPr>
            <a:r>
              <a:t>15. 비기능 요구사항 / 용어 정의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프로세스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1. 전체 업무 프로세스 흐름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Main Workflow: 5단계 프로세스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4FF"/>
                </a:solidFill>
              </a:defRPr>
            </a:pPr>
            <a:r>
              <a:t>1단계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파일 업로드</a:t>
            </a:r>
            <a:br/>
            <a:r>
              <a:t>+ 자동추출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6464"/>
                </a:solidFill>
              </a:defRPr>
            </a:pPr>
            <a:r>
              <a:t>/parsing</a:t>
            </a:r>
            <a:br/>
            <a:r>
              <a:t>/parsing_card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37160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</a:defRPr>
            </a:pPr>
            <a:r>
              <a:t>2단계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7373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데이터</a:t>
            </a:r>
            <a:br/>
            <a:r>
              <a:t>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60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6464"/>
                </a:solidFill>
              </a:defRPr>
            </a:pPr>
            <a:r>
              <a:t>/verification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37160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9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</a:defRPr>
            </a:pPr>
            <a:r>
              <a:t>3단계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17373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원가</a:t>
            </a:r>
            <a:br/>
            <a:r>
              <a:t>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9" y="2560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6464"/>
                </a:solidFill>
              </a:defRPr>
            </a:pPr>
            <a:r>
              <a:t>/analysis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37160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B1FA2"/>
                </a:solidFill>
              </a:defRPr>
            </a:pPr>
            <a:r>
              <a:t>4단계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17373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견적서</a:t>
            </a:r>
            <a:br/>
            <a:r>
              <a:t>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560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6464"/>
                </a:solidFill>
              </a:defRPr>
            </a:pPr>
            <a:r>
              <a:t>/comparison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37160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0012"/>
                </a:solidFill>
              </a:defRPr>
            </a:pPr>
            <a:r>
              <a:t>5단계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17373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결과 저장</a:t>
            </a:r>
            <a:br/>
            <a:r>
              <a:t>ERP 등록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560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6464"/>
                </a:solidFill>
              </a:defRPr>
            </a:pPr>
            <a:r>
              <a:t>골든셋</a:t>
            </a:r>
            <a:br/>
            <a:r>
              <a:t>Excel 다운로드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600">
                <a:solidFill>
                  <a:srgbClr val="003875"/>
                </a:solidFill>
              </a:defRPr>
            </a:pPr>
            <a:r>
              <a:t>프로세스 요약</a:t>
            </a: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1단계: 사용자가 Excel 견적서를 업로드하면 AI가 자동으로 재료비/가공비/제경비 항목을 추출합니다.</a:t>
            </a: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2단계: 추출된 데이터를 원본 Excel과 좌우 분할 화면에서 1:1 대조하며 검증합니다.</a:t>
            </a: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3단계: 검증된 데이터를 기반으로 원가 구조를 분석하고, 이상치를 AI가 자동 감지합니다.</a:t>
            </a: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4단계: 여러 업체의 견적서를 나란히 비교하여 최적의 원가를 선택합니다.</a:t>
            </a: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5단계: 분석 완료된 데이터를 골든셋(원가계산서)으로 확정하고 ERP에 등록합니다.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프로세스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2. 상태 전이도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File Status Transition Diagram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2743200"/>
                <a:gridCol w="2743200"/>
                <a:gridCol w="329184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코드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전이 조건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다음 상태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추출중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extracting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AI가 Excel에서 데이터를 추출하는 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파일 업로드 시 자동 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검증중 / 실패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검증중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verifying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추출된 데이터의 정확성 검토 단계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추출 완료 시 자동 전환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검증완료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검증완료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검증이 완료되어 분석 준비된 상태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사용자가 검증 완료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analyzing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원가 분석이 진행 중인 상태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사용자가 분석 시작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분석완료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analyzed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 완료, 골든셋 생성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 프로세스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ERP 등록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실패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failed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추출 과정에서 오류 발생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파일 형식 오류 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재업로드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389120"/>
            <a:ext cx="10972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4846320"/>
            <a:ext cx="1645920" cy="548640"/>
          </a:xfrm>
          <a:prstGeom prst="round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377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추출중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846320"/>
            <a:ext cx="1645920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9377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검증중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4846320"/>
            <a:ext cx="164592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49377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검증완료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846320"/>
            <a:ext cx="1645920" cy="54864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9377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분석중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4846320"/>
            <a:ext cx="1645920" cy="548640"/>
          </a:xfrm>
          <a:prstGeom prst="round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49377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분석완료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5669280"/>
            <a:ext cx="164592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실패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394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프로세스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3. [1단계] 파일 업로드 및 데이터 추출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Process: Upload &amp; AI Extraction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시퀀스 다이어그램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03875"/>
                </a:solidFill>
              </a:defRPr>
            </a:pPr>
            <a:r>
              <a:t>사용자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  │ Excel 파일 업로드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  │ (드래그앤드롭/클릭)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  ▼</a:t>
            </a:r>
          </a:p>
          <a:p>
            <a:pPr>
              <a:spcAft>
                <a:spcPts val="400"/>
              </a:spcAft>
              <a:defRPr b="1" sz="1100">
                <a:solidFill>
                  <a:srgbClr val="2E7D32"/>
                </a:solidFill>
              </a:defRPr>
            </a:pPr>
            <a:r>
              <a:t>시스템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  │ 파일 검증 (확장자, 크기, 형식)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  │ → AI 엔진에 추출 요청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  ▼</a:t>
            </a:r>
          </a:p>
          <a:p>
            <a:pPr>
              <a:spcAft>
                <a:spcPts val="400"/>
              </a:spcAft>
              <a:defRPr b="1" sz="1100">
                <a:solidFill>
                  <a:srgbClr val="7B1FA2"/>
                </a:solidFill>
              </a:defRPr>
            </a:pPr>
            <a:r>
              <a:t>AI 엔진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  │ 파일 구조 분석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  │ 데이터 추출 (0% → 100%)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  │ 결과: 추출 완료 / 실패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  ▼</a:t>
            </a:r>
          </a:p>
          <a:p>
            <a:pPr>
              <a:spcAft>
                <a:spcPts val="400"/>
              </a:spcAft>
              <a:defRPr b="1" sz="1100">
                <a:solidFill>
                  <a:srgbClr val="E65100"/>
                </a:solidFill>
              </a:defRPr>
            </a:pPr>
            <a:r>
              <a:t>사용자에게 상태 업데이트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  추출중 → 검증중 (성공)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  추출중 → 실패 (오류)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입력 / 출력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0" y="1828800"/>
          <a:ext cx="3200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Excel (.xlsx, .xls)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처리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AI 자동 구조 인식 → 항목 분류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파싱 항목, 신뢰도, 이상치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실패 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오류 사유 + 재업로드 안내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389120" y="384048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비즈니스 규칙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0" y="4480560"/>
          <a:ext cx="3200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46888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규칙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BR-001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지원: .xlsx, .xls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BR-002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동시 다중 파일 업로드 가능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BR-003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실패 시 재처리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BR-004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완료 시 자동 '검증중' 전환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화면 요소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73736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A1628"/>
                </a:solidFill>
              </a:defRPr>
            </a:pPr>
            <a:r>
              <a:t>파싱 페이지 (/parsing, /parsing_card)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드래그앤드롭 업로드 영역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[파일 업로드] 버튼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업로드 큐 (진행률 표시)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상태 필터 칩 (7개 상태)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  전체 / 추출중 / 검증중 /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  검증완료 / 분석중 / 분석완료 / 실패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파일 목록 (테이블 or 카드)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각 파일별 진행률 바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400"/>
              </a:spcAft>
              <a:defRPr b="1" sz="1100">
                <a:solidFill>
                  <a:srgbClr val="0A1628"/>
                </a:solidFill>
              </a:defRPr>
            </a:pPr>
            <a:r>
              <a:t>카드뷰 상태별 표시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추출중: 프로그래스바 + %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완료: 항목수/신뢰도/이상치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실패: 오류 사유 메시지</a:t>
            </a: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rPr lang="ko-KR" altLang="en-US"/>
              <a:t>현대모비스 견적 원가 분석 시스템  |  프로세스 설계서  |  Confidential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rPr lang="ko-KR" altLang="en-US"/>
              <a:t>4. [2단계] 데이터 검증</a:t>
            </a:r>
            <a:endParaRPr lang="ko-KR" altLang="en-US"/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lang="ko-KR" altLang="en-US"/>
              <a:t>Process: Data Verification</a:t>
            </a: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2560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rPr lang="ko-KR" altLang="en-US"/>
              <a:t>시퀀스 다이어그램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사용자 → 검증 페이지 진입 → 시스템: 좌(파싱 데이터) + 우(원본 Excel) 로드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사용자 → 좌측 항목 클릭 → 시스템: 우측 Excel 셀 자동 하이라이트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사용자 → 값 수정 (더블클릭) → 시스템: 수정 이력 기록 + 실시간 합계 재계산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사용자 → [완료] 클릭 → 시스템: 상태 '검증중' → '검증완료' 전환</a:t>
            </a:r>
            <a:endParaRPr lang="ko-KR" altLang="en-US"/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5303520" cy="247555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rPr lang="ko-KR" altLang="en-US"/>
              <a:t>검증 항목</a:t>
            </a:r>
            <a:endParaRPr lang="ko-KR" alt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4480560"/>
          <a:ext cx="5029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2011680"/>
              </a:tblGrid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검증 항목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방법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조치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항목 분류 정확성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원본 Excel 대조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잘못된 분류 수정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금액 정확성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원본 셀 값 비교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오타/오류 수정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수식 적합성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AI 신뢰도 점수 확인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낮은 신뢰도 재검토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이상치 검토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AI 감지 결과 확인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판단근거 검토 후 승인/수정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17920" y="1188720"/>
            <a:ext cx="5303520" cy="2926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rPr lang="ko-KR" altLang="en-US"/>
              <a:t>화면: 좌우 분할 검증</a:t>
            </a: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a1628"/>
                </a:solidFill>
              </a:defRPr>
            </a:pPr>
            <a:r>
              <a:rPr lang="ko-KR" altLang="en-US"/>
              <a:t>좌측 패널 — 파싱된 데이터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[표준뷰] / [리스트뷰] 전환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카테고리별 계층 구조 (재료비/가공비/제경비)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신뢰도 색상 코딩 (초록/노랑/빨강)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이상치 ⚠️ 배지 → AI 판단근거 팝오버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더블클릭 → 인라인 편집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200" b="1">
                <a:solidFill>
                  <a:srgbClr val="0a1628"/>
                </a:solidFill>
              </a:defRPr>
            </a:pPr>
            <a:r>
              <a:rPr lang="ko-KR" altLang="en-US"/>
              <a:t>우측 패널 — 원본 Excel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원본 Excel 파일 렌더링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좌측 항목 클릭 시 해당 셀 하이라이트</a:t>
            </a:r>
            <a:endParaRPr lang="ko-KR" altLang="en-US"/>
          </a:p>
        </p:txBody>
      </p:sp>
      <p:sp>
        <p:nvSpPr>
          <p:cNvPr id="14" name="Rounded Rectangle 13"/>
          <p:cNvSpPr/>
          <p:nvPr/>
        </p:nvSpPr>
        <p:spPr>
          <a:xfrm>
            <a:off x="6217920" y="4297680"/>
            <a:ext cx="5303520" cy="210979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rPr lang="ko-KR" altLang="en-US"/>
              <a:t>비즈니스 규칙</a:t>
            </a:r>
            <a:endParaRPr lang="ko-KR" altLang="en-US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0" y="4693920"/>
          <a:ext cx="5029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114800"/>
              </a:tblGrid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규칙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설명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BR-005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원본 Excel과 1:1 셀 매핑 표시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BR-006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수정 시 수정자/시간/변경사유 자동 기록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BR-007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이상치 항목은 반드시 검토 후 승인 필요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BR-008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검증 완료 시 '검증완료' 상태로 전환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프로세스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5. [3단계] 원가 분석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Process: Cost Analysis — 4 View Tabs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758952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뷰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목적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표준뷰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카테고리별 원가 구조 파악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재료비/가공비/제경비 계층 구조, 신뢰도 바, 이상치 AI 판단근거 팝오버, 인라인 편집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리스트뷰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항목별 상세 비교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평면 테이블, 정렬/검색 지원, 이상치 풍선 도움말, 인라인 편집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관계도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항목 간 의존성 파악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노드 그래프, 클릭 시 우측 상세 패널 (금액/신뢰도/AI근거), 원본 데이터 보기 버튼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골든셋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최종 원가계산서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공식 양식 (원가계산서), Excel 다운로드 (.xls), 인쇄 기능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00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003875"/>
                </a:solidFill>
              </a:defRPr>
            </a:pPr>
            <a:r>
              <a:t>시퀀스 다이어그램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사용자 → 분석 페이지 진입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시스템 → 검증 데이터 로드 → AI 원가 구조 분석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사용자 ← 3가지 뷰 표시 (표준/리스트/관계도)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사용자 → 이상치 항목 클릭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사용자 ← AI 판단근거 팝오버 표시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사용자 → 골든셋 탭 클릭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사용자 ← 원가계산서 양식 표시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사용자 → Excel 다운로드 클릭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사용자 ← .xls 파일 다운로드 (화면 동일 디자인)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0040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비즈니스 규칙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3749039"/>
          <a:ext cx="5029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1148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규칙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BR-009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이상치 감지 시 AI 판단근거 자동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BR-010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골든셋 Excel은 화면과 동일한 디자인으로 출력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BR-011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 완료 시 '분석완료' 상태로 전환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BR-012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원본 데이터 보기는 엑셀 좌표 있는 경우에만 활성화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rPr lang="ko-KR" altLang="en-US"/>
              <a:t>현대모비스 견적 원가 분석 시스템  |  프로세스 설계서  |  Confidential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rPr lang="ko-KR" altLang="en-US"/>
              <a:t>6. [3단계] 이상치 감지 프로세스</a:t>
            </a:r>
            <a:endParaRPr lang="ko-KR" altLang="en-US"/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lang="ko-KR" altLang="en-US"/>
              <a:t>AI Anomaly Detection Process</a:t>
            </a: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98220" y="1280160"/>
            <a:ext cx="425203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5100"/>
                </a:solidFill>
              </a:defRPr>
            </a:pPr>
            <a:r>
              <a:rPr lang="ko-KR" altLang="en-US"/>
              <a:t>감지 프로세스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98220" y="1828800"/>
            <a:ext cx="4252035" cy="3665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3875"/>
                </a:solidFill>
              </a:defRPr>
            </a:pPr>
            <a:r>
              <a:rPr lang="ko-KR" altLang="en-US"/>
              <a:t>AI 엔진 분석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200" b="1">
                <a:solidFill>
                  <a:srgbClr val="0a1628"/>
                </a:solidFill>
              </a:defRPr>
            </a:pPr>
            <a:r>
              <a:rPr lang="ko-KR" altLang="en-US"/>
              <a:t>감지 기준 1: 시장가 대비 비교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→ 시장가 대비 33% 초과 시 이상치 판정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→ 예: SKIN(표피재) ₩18,920 (시장가 ₩14,200 대비 +33.2%)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200" b="1">
                <a:solidFill>
                  <a:srgbClr val="0a1628"/>
                </a:solidFill>
              </a:defRPr>
            </a:pPr>
            <a:r>
              <a:rPr lang="ko-KR" altLang="en-US"/>
              <a:t>감지 기준 2: 과거 분기 평균 대비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→ 과거 3개 분기 평균 대비 편차 기준 초과 시 경고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200" b="1">
                <a:solidFill>
                  <a:srgbClr val="0a1628"/>
                </a:solidFill>
              </a:defRPr>
            </a:pPr>
            <a:r>
              <a:rPr lang="ko-KR" altLang="en-US"/>
              <a:t>감지 기준 3: 전체 비율 기준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→ 전체 비율에서 비정상적 비율 차지 시 주의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→ 예: 기타 경비가 전체 제경비의 29.4% 차지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400" b="1">
                <a:solidFill>
                  <a:srgbClr val="e60012"/>
                </a:solidFill>
              </a:defRPr>
            </a:pPr>
            <a:r>
              <a:rPr lang="ko-KR" altLang="en-US"/>
              <a:t>표시 방식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⚠️ 배지 표시 → 클릭 시 AI 판단근거 팝오버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팝오버 내용: 감지 사유 + 비교 데이터 + 권장 조치</a:t>
            </a:r>
            <a:endParaRPr lang="ko-KR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875"/>
                </a:solidFill>
              </a:defRPr>
            </a:pPr>
            <a:r>
              <a:rPr lang="ko-KR" altLang="en-US"/>
              <a:t>이상치 표시 화면 예시</a:t>
            </a: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a1628"/>
                </a:solidFill>
              </a:defRPr>
            </a:pPr>
            <a:r>
              <a:rPr lang="ko-KR" altLang="en-US"/>
              <a:t>표준뷰에서의 표시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■ 재료비 (6건)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├─ SKIN(표피재) ⚠️  ₩18,920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 [신뢰도 ████░░ 72%]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 → 클릭 시 팝오버: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 '과거 3분기 평균 ₩14,200 대비 +33.2% 높음'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├─ PP수지  ₩694.10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 [신뢰도 ██████ 95%]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300" b="1">
                <a:solidFill>
                  <a:srgbClr val="0a1628"/>
                </a:solidFill>
              </a:defRPr>
            </a:pPr>
            <a:r>
              <a:rPr lang="ko-KR" altLang="en-US"/>
              <a:t>리스트뷰에서의 표시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이상치 항목의 상태 배지 클릭 → 풍선 도움말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300" b="1">
                <a:solidFill>
                  <a:srgbClr val="0a1628"/>
                </a:solidFill>
              </a:defRPr>
            </a:pPr>
            <a:r>
              <a:rPr lang="ko-KR" altLang="en-US"/>
              <a:t>관계도에서의 표시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노드 클릭 → 우측 상세 패널 하단에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'AI 판단근거' 섹션 표시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300" b="1">
                <a:solidFill>
                  <a:srgbClr val="0a1628"/>
                </a:solidFill>
              </a:defRPr>
            </a:pPr>
            <a:r>
              <a:rPr lang="ko-KR" altLang="en-US"/>
              <a:t>신뢰도 색상 코딩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초록(90%+) / 노랑(70~90%) / 빨강(&lt;70%)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프로세스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7. [4단계] 견적서 비교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Process: Quotation Comparison — 3-Step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291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4FF"/>
                </a:solidFill>
              </a:defRPr>
            </a:pPr>
            <a:r>
              <a:t>Step 1</a:t>
            </a:r>
            <a:br/>
            <a:r>
              <a:t>아이템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</a:defRPr>
            </a:pPr>
            <a:r>
              <a:t>아이템 코드/품명</a:t>
            </a:r>
            <a:br/>
            <a:r>
              <a:t>검색으로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188720"/>
            <a:ext cx="3291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234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800"/>
                </a:solidFill>
              </a:defRPr>
            </a:pPr>
            <a:r>
              <a:t>Step 2</a:t>
            </a:r>
            <a:br/>
            <a:r>
              <a:t>견적서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</a:defRPr>
            </a:pPr>
            <a:r>
              <a:t>비교할 견적서</a:t>
            </a:r>
            <a:br/>
            <a:r>
              <a:t>2~4개 복수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188720"/>
            <a:ext cx="3291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234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Step 3</a:t>
            </a:r>
            <a:br/>
            <a:r>
              <a:t>비교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</a:defRPr>
            </a:pPr>
            <a:r>
              <a:t>항목별 나란히 비교</a:t>
            </a:r>
            <a:br/>
            <a:r>
              <a:t>최저/최고가 강조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109728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비교 결과 표시 방식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• 각 업체별 원가 항목을 컬럼으로 나란히 표시</a:t>
            </a: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• 최저가 항목: ▼ 표시 + 녹색 강조</a:t>
            </a: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• 최고가 항목: ▲ 표시 + 빨간색 강조</a:t>
            </a: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• 항목 클릭 시 계산식 비교 팝오버</a:t>
            </a: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  (각 업체의 산출 방식 확인 가능)</a:t>
            </a: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• 총원가 합계 행: 굵은 글씨 + 배경색 강조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0" y="347472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93192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규칙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BR-013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최소 2개, 최대 4개 견적서 동시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BR-014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최저가 항목 녹색, 최고가 항목 빨간색 강조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BR-015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각 업체별 산출 방식(계산식) 비교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rPr lang="ko-KR" altLang="en-US"/>
              <a:t>현대모비스 견적 원가 분석 시스템  |  프로세스 설계서  |  Confidential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rPr lang="ko-KR" altLang="en-US"/>
              <a:t>8. [5단계] 결과 저장 및 ERP 등록</a:t>
            </a:r>
            <a:endParaRPr lang="ko-KR" altLang="en-US"/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lang="ko-KR" altLang="en-US"/>
              <a:t>Process: Golden Set &amp; ERP Registration</a:t>
            </a: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55370" y="1280160"/>
            <a:ext cx="4233081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rPr lang="ko-KR" altLang="en-US"/>
              <a:t>시퀀스 다이어그램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55370" y="1737360"/>
            <a:ext cx="4233081" cy="3813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3875"/>
                </a:solidFill>
              </a:defRPr>
            </a:pPr>
            <a:r>
              <a:rPr lang="ko-KR" altLang="en-US"/>
              <a:t>사용자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골든셋 확정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▼</a:t>
            </a:r>
            <a:endParaRPr lang="ko-KR" altLang="en-US"/>
          </a:p>
          <a:p>
            <a:pPr>
              <a:spcAft>
                <a:spcPts val="400"/>
              </a:spcAft>
              <a:defRPr sz="1200" b="1">
                <a:solidFill>
                  <a:srgbClr val="2e7d32"/>
                </a:solidFill>
              </a:defRPr>
            </a:pPr>
            <a:r>
              <a:rPr lang="ko-KR" altLang="en-US"/>
              <a:t>시스템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원가계산서 생성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(화면 양식 그대로)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▼</a:t>
            </a:r>
            <a:endParaRPr lang="ko-KR" altLang="en-US"/>
          </a:p>
          <a:p>
            <a:pPr>
              <a:spcAft>
                <a:spcPts val="400"/>
              </a:spcAft>
              <a:defRPr sz="1200" b="1">
                <a:solidFill>
                  <a:srgbClr val="003875"/>
                </a:solidFill>
              </a:defRPr>
            </a:pPr>
            <a:r>
              <a:rPr lang="ko-KR" altLang="en-US"/>
              <a:t>사용자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Excel 다운로드 (.xls)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- 한 장 시트, 화면 동일 디자인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- 타이틀 15pt / 중간 12pt / 일반 10pt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- 셀 테두리 + 배경색 포함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▼</a:t>
            </a:r>
            <a:endParaRPr lang="ko-KR" altLang="en-US"/>
          </a:p>
          <a:p>
            <a:pPr>
              <a:spcAft>
                <a:spcPts val="400"/>
              </a:spcAft>
              <a:defRPr sz="1200" b="1">
                <a:solidFill>
                  <a:srgbClr val="e60012"/>
                </a:solidFill>
              </a:defRPr>
            </a:pPr>
            <a:r>
              <a:rPr lang="ko-KR" altLang="en-US"/>
              <a:t>ERP 시스템 연동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등록 데이터 포맷 변환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ERP 시스템에 자동 등록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등록 완료 알림</a:t>
            </a:r>
            <a:endParaRPr lang="ko-KR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rPr lang="ko-KR" altLang="en-US"/>
              <a:t>골든셋 (원가계산서) 구성</a:t>
            </a: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a1628"/>
                </a:solidFill>
              </a:defRPr>
            </a:pPr>
            <a:r>
              <a:rPr lang="ko-KR" altLang="en-US"/>
              <a:t>Excel 출력 내용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1. 문서 제목: '원 가 계 산 서' (밑줄 스타일)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2. 문서 정보 헤더: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 End품번, End품명, 승인도/대여도, EO_NO,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 SEQ, 차종, 환종, 업체코드, 업체명, 담당자 등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3. 원가 요약 테이블: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 재료비/가공비/제조원가/관리비/이윤/결정단가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4. 재료비 계산내역 (32컬럼):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 NO, LEVEL, Sub타입, 품번, 품명, 재질명, 단가...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 재료비 소계 행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5. 가공비 계산내역 (40컬럼):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 NO, LEVEL, 품번, 공정명, CT, 노무비, 기계경비...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 가공비 소계 행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6. 서명란 (작성/검토/승인)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7. 계산단가 / 조정단가 / 결정단가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rPr lang="ko-KR" altLang="en-US"/>
              <a:t>현대모비스 견적 원가 분석 시스템  |  프로세스 설계서  |  Confidential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rPr lang="ko-KR" altLang="en-US"/>
              <a:t>9. 모델관리 — 수식 관리 프로세스</a:t>
            </a:r>
            <a:endParaRPr lang="ko-KR" altLang="en-US"/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lang="ko-KR" altLang="en-US"/>
              <a:t>Model Management: Formula Administration</a:t>
            </a: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7270" y="1280160"/>
            <a:ext cx="4346812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rPr lang="ko-KR" altLang="en-US"/>
              <a:t>관리자 (직접 관리)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17270" y="1737360"/>
            <a:ext cx="4346812" cy="4004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a1628"/>
                </a:solidFill>
              </a:defRPr>
            </a:pPr>
            <a:r>
              <a:rPr lang="ko-KR" altLang="en-US"/>
              <a:t>수식 추가/편집/삭제 → 즉시 반영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수식명 + 유형 (핵심/하위/비율)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수식 표현식 입력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설명 텍스트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변수 목록 (쉼표 구분)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200" b="1">
                <a:solidFill>
                  <a:srgbClr val="003875"/>
                </a:solidFill>
              </a:defRPr>
            </a:pPr>
            <a:r>
              <a:rPr lang="ko-KR" altLang="en-US"/>
              <a:t>적용 부서 설정 (체크박스)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□ 전체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□ 원가관리팀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□ 견적1팀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□ 견적2팀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□ 견적3팀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□ 구매팀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□ 품질팀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'전체' 선택 시 개별 부서 해제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개별 부서 선택 시 '전체' 해제</a:t>
            </a:r>
            <a:endParaRPr lang="ko-KR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rPr lang="ko-KR" altLang="en-US"/>
              <a:t>기본 수식 목록</a:t>
            </a:r>
            <a:endParaRPr lang="ko-KR" alt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737360"/>
          <a:ext cx="50292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2560320"/>
                <a:gridCol w="731520"/>
              </a:tblGrid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수식명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유형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수식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적용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생산원가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핵심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생산원가 = 재료비 + 가공비 + 제경비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전체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재료비 소계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하위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재료비 = Σ(단가 × 수량 × (1+로스율))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전체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가공비 단가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하위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가공비 = (설비감가상각+인건비)/생산수량×CT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전체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제경비율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비율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제경비율 = 제경비/(재료비+가공비)×100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견적1,2팀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411480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65100"/>
                </a:solidFill>
              </a:defRPr>
            </a:pPr>
            <a:r>
              <a:rPr lang="ko-KR" altLang="en-US"/>
              <a:t>비즈니스 규칙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BR-016: 핵심(core) 수식은 삭제 불가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BR-017: 이미 대기 중인 요청 시 동일 수식 중복 요청 불가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BR-018: 승인 시 적용 부서를 체크박스로 선택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BR-019: 승인된 변경은 즉시 모델 관리 탭에 반영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rPr lang="ko-KR" altLang="en-US"/>
              <a:t>현대모비스 견적 원가 분석 시스템  |  프로세스 설계서  |  Confidential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rPr lang="ko-KR" altLang="en-US"/>
              <a:t>10. 모델관리 — 변경 요청 프로세스</a:t>
            </a:r>
            <a:endParaRPr lang="ko-KR" altLang="en-US"/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lang="ko-KR" altLang="en-US"/>
              <a:t>Change Request Workflow</a:t>
            </a: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98220" y="1280160"/>
            <a:ext cx="418569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875"/>
                </a:solidFill>
              </a:defRPr>
            </a:pPr>
            <a:r>
              <a:rPr lang="ko-KR" altLang="en-US"/>
              <a:t>워크플로우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98220" y="1737359"/>
            <a:ext cx="4185692" cy="4099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7b1fa2"/>
                </a:solidFill>
              </a:defRPr>
            </a:pPr>
            <a:r>
              <a:rPr lang="ko-KR" altLang="en-US"/>
              <a:t>① 일반 사용자: 요청 제출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수정 요청 또는 새 수식 추가 요청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+ 변경 내용 + 요청 사유 작성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        │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        ▼</a:t>
            </a:r>
            <a:endParaRPr lang="ko-KR" altLang="en-US"/>
          </a:p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rPr lang="ko-KR" altLang="en-US"/>
              <a:t>② 변경 요청 탭: [대기] 상태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diff 표시: - 원본(빨강) / + 변경(초록)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요청자/부서/시간 정보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        │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        ▼</a:t>
            </a:r>
            <a:endParaRPr lang="ko-KR" altLang="en-US"/>
          </a:p>
          <a:p>
            <a:pPr>
              <a:spcAft>
                <a:spcPts val="400"/>
              </a:spcAft>
              <a:defRPr sz="1300" b="1">
                <a:solidFill>
                  <a:srgbClr val="003875"/>
                </a:solidFill>
              </a:defRPr>
            </a:pPr>
            <a:r>
              <a:rPr lang="ko-KR" altLang="en-US"/>
              <a:t>③ 관리자: 검토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├── 승인: 적용 부서 체크박스 선택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│    → 선택 부서에 수식 즉시 반영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└── 반려: 반려 사유 코멘트 작성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rPr lang="ko-KR" altLang="en-US"/>
              <a:t>④ 결과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승인 → 모델 관리 탭 수식 업데이트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반려 → 요청자에게 사유 전달</a:t>
            </a:r>
            <a:endParaRPr lang="ko-KR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rPr lang="ko-KR" altLang="en-US"/>
              <a:t>상태 관리</a:t>
            </a:r>
            <a:endParaRPr lang="ko-KR" alt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73736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1371600"/>
                <a:gridCol w="1554480"/>
              </a:tblGrid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상태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설명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사용자 액션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관리자 액션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대기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요청 접수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취소 가능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승인/반려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승인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관리자 승인 완료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조회만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적용 부서 표시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반려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관리자 반려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코멘트 확인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반려 사유 기록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17920" y="3657600"/>
            <a:ext cx="5303520" cy="2560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40080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rPr lang="ko-KR" altLang="en-US"/>
              <a:t>변경 요청 탭 UI</a:t>
            </a: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상단 필터: [전체] [대기] [승인] [반려] 클릭 필터링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- 선택된 필터: 두꺼운 테두리 + 배경색 강조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각 요청 카드: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- 요청자 아바타 + 이름/부서/시간 + 상태 배지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- diff: - 원본 (빨강) / + 변경 (초록)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- 추가된 변수 칩 표시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수식 카드에서 '변경요청 N건' 칩 → 클릭 시 상세 팝업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• 본인 대기 건: [요청 취소] 버튼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rPr lang="ko-KR" altLang="en-US"/>
              <a:t>현대모비스 견적 원가 분석 시스템  |  프로세스 설계서  |  Confidential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rPr lang="ko-KR" altLang="en-US"/>
              <a:t>11. 모델관리 — 부서별 모델 적용</a:t>
            </a:r>
            <a:endParaRPr lang="ko-KR" altLang="en-US"/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lang="ko-KR" altLang="en-US"/>
              <a:t>Department-Specific Model Application</a:t>
            </a: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0972800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875"/>
                </a:solidFill>
              </a:defRPr>
            </a:pPr>
            <a:r>
              <a:rPr lang="ko-KR" altLang="en-US"/>
              <a:t>부서별 모델 적용 예시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a1628"/>
                </a:solidFill>
              </a:defRPr>
            </a:pPr>
            <a:r>
              <a:rPr lang="ko-KR" altLang="en-US"/>
              <a:t>원본 수식 (전체 부서 적용)</a:t>
            </a:r>
            <a:endParaRPr lang="ko-KR" altLang="en-US"/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rPr lang="ko-KR" altLang="en-US"/>
              <a:t>  재료비 = Σ(단가 × 수량 × (1 + 로스율))</a:t>
            </a:r>
            <a:endParaRPr lang="ko-KR" altLang="en-US"/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300" b="1">
                <a:solidFill>
                  <a:srgbClr val="003875"/>
                </a:solidFill>
              </a:defRPr>
            </a:pPr>
            <a:r>
              <a:rPr lang="ko-KR" altLang="en-US"/>
              <a:t>견적1팀 변경 요청 → 관리자 승인 (견적1팀에만 적용)</a:t>
            </a:r>
            <a:endParaRPr lang="ko-KR" altLang="en-US"/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rPr lang="ko-KR" altLang="en-US"/>
              <a:t>  견적1팀: 재료비 = Σ(단가 × 수량 × (1 + 로스율) × 환율보정계수)    ← 변경됨</a:t>
            </a:r>
            <a:endParaRPr lang="ko-KR" altLang="en-US"/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rPr lang="ko-KR" altLang="en-US"/>
              <a:t>  견적2팀: 재료비 = Σ(단가 × 수량 × (1 + 로스율))                    ← 원본 유지</a:t>
            </a:r>
            <a:endParaRPr lang="ko-KR" altLang="en-US"/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rPr lang="ko-KR" altLang="en-US"/>
              <a:t>  기타 부서: 재료비 = Σ(단가 × 수량 × (1 + 로스율))                  ← 원본 유지</a:t>
            </a:r>
            <a:endParaRPr lang="ko-KR" altLang="en-US"/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303520" cy="2560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rPr lang="ko-KR" altLang="en-US"/>
              <a:t>적용 범위 시나리오</a:t>
            </a: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31520" y="4110990"/>
            <a:ext cx="5029200" cy="206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e7d32"/>
                </a:solidFill>
              </a:defRPr>
            </a:pPr>
            <a:r>
              <a:rPr lang="ko-KR" altLang="en-US"/>
              <a:t>시나리오 1: 전체 적용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승인 시 [전체] 체크 → 모든 부서에 즉시 반영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200" b="1">
                <a:solidFill>
                  <a:srgbClr val="e65100"/>
                </a:solidFill>
              </a:defRPr>
            </a:pPr>
            <a:r>
              <a:rPr lang="ko-KR" altLang="en-US"/>
              <a:t>시나리오 2: 특정 부서만 적용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승인 시 [견적1팀] [견적2팀] 체크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→ 선택된 부서만 변경, 나머지는 원본 유지</a:t>
            </a:r>
            <a:endParaRPr lang="ko-KR" altLang="en-US"/>
          </a:p>
          <a:p>
            <a:pPr>
              <a:spcAft>
                <a:spcPts val="400"/>
              </a:spcAft>
              <a:defRPr sz="1200" b="1">
                <a:solidFill>
                  <a:srgbClr val="7b1fa2"/>
                </a:solidFill>
              </a:defRPr>
            </a:pPr>
            <a:r>
              <a:rPr lang="ko-KR" altLang="en-US"/>
              <a:t>시나리오 3: 단일 부서 적용</a:t>
            </a:r>
            <a:endParaRPr lang="ko-KR" altLang="en-US"/>
          </a:p>
          <a:p>
            <a:pPr>
              <a:spcAft>
                <a:spcPts val="400"/>
              </a:spcAft>
              <a:defRPr sz="1200" b="1">
                <a:solidFill>
                  <a:srgbClr val="7b1fa2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승인 시 [견적1팀] 만 체크 → 해당 부서만 적용</a:t>
            </a:r>
            <a:endParaRPr lang="ko-KR" altLang="en-US"/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5303520" cy="2560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40080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rPr lang="ko-KR" altLang="en-US"/>
              <a:t>사용자 전환 (데모)</a:t>
            </a: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5029200" cy="1602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우측 상단 사용자 칩 클릭으로 역할 전환: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200" b="1">
                <a:solidFill>
                  <a:srgbClr val="003875"/>
                </a:solidFill>
              </a:defRPr>
            </a:pPr>
            <a:r>
              <a:rPr lang="ko-KR" altLang="en-US"/>
              <a:t>김관리 (관리자, 원가관리팀)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→ 직접 편집/삭제, 변경요청 승인/반려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endParaRPr lang="ko-KR" altLang="en-US"/>
          </a:p>
          <a:p>
            <a:pPr>
              <a:spcAft>
                <a:spcPts val="400"/>
              </a:spcAft>
              <a:defRPr sz="1200" b="1">
                <a:solidFill>
                  <a:srgbClr val="7b1fa2"/>
                </a:solidFill>
              </a:defRPr>
            </a:pPr>
            <a:r>
              <a:rPr lang="ko-KR" altLang="en-US"/>
              <a:t>이분석 (일반, 견적1팀)</a:t>
            </a:r>
            <a:endParaRPr lang="ko-KR" altLang="en-US"/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rPr lang="ko-KR" altLang="en-US"/>
              <a:t>  → 수정 요청, 추가 요청 제출만 가능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프로세스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12. 사용자 역할 및 권한 매트릭스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Role-Based Access Control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73152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관리자 (김관리)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일반 사용자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파일 업로드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데이터 검증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원가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견적서 비교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골든셋 Excel 다운로드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수식 직접 편집/삭제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X (요청만)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새 수식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X (요청만)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변경 요청 승인/반려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적용 부서 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요청 취소 (본인 대기 건)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역할 정의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0" y="1737360"/>
          <a:ext cx="32004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시스템 전체 관리 권한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일반 사용자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업무별 분석 수행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301752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003875"/>
                </a:solidFill>
              </a:defRPr>
            </a:pPr>
            <a:r>
              <a:t>부서 목록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원가관리팀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견적1팀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견적2팀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견적3팀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구매팀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품질팀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400"/>
              </a:spcAft>
              <a:defRPr b="1" sz="1200">
                <a:solidFill>
                  <a:srgbClr val="0A1628"/>
                </a:solidFill>
              </a:defRPr>
            </a:pPr>
            <a:r>
              <a:t>사용자 프리셋 (데모)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김관리 - 관리자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이분석 - 견적1팀</a:t>
            </a:r>
          </a:p>
          <a:p>
            <a:pPr>
              <a:spcAft>
                <a:spcPts val="400"/>
              </a:spcAft>
              <a:defRPr sz="1100">
                <a:solidFill>
                  <a:srgbClr val="191F28"/>
                </a:solidFill>
              </a:defRPr>
            </a:pPr>
            <a:r>
              <a:t>• 박검증 - 견적2팀</a:t>
            </a:r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rPr lang="ko-KR" altLang="en-US"/>
              <a:t>현대모비스 견적 원가 분석 시스템  |  프로세스 설계서  |  Confidential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rPr lang="ko-KR" altLang="en-US"/>
              <a:t>13. 데이터 흐름도</a:t>
            </a:r>
            <a:endParaRPr lang="ko-KR" altLang="en-US"/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lang="ko-KR" altLang="en-US"/>
              <a:t>Data Flow Diagram</a:t>
            </a: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457200" y="1352550"/>
            <a:ext cx="1828800" cy="9099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48640" y="144399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4ff"/>
                </a:solidFill>
              </a:defRPr>
            </a:pPr>
            <a:r>
              <a:rPr lang="ko-KR" altLang="en-US"/>
              <a:t>Excel</a:t>
            </a:r>
            <a:br>
              <a:rPr lang="ko-KR" altLang="en-US"/>
            </a:br>
            <a:r>
              <a:rPr lang="ko-KR" altLang="en-US"/>
              <a:t>원본파일</a:t>
            </a:r>
            <a:br>
              <a:rPr lang="ko-KR" altLang="en-US"/>
            </a:br>
            <a:r>
              <a:rPr lang="ko-KR" altLang="en-US"/>
              <a:t>(.xlsx)</a:t>
            </a:r>
            <a:endParaRPr lang="ko-KR" altLang="en-US"/>
          </a:p>
        </p:txBody>
      </p:sp>
      <p:sp>
        <p:nvSpPr>
          <p:cNvPr id="7" name="Rounded Rectangle 6"/>
          <p:cNvSpPr/>
          <p:nvPr/>
        </p:nvSpPr>
        <p:spPr>
          <a:xfrm>
            <a:off x="2743200" y="1352550"/>
            <a:ext cx="1828800" cy="9099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834640" y="144399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800"/>
                </a:solidFill>
              </a:defRPr>
            </a:pPr>
            <a:r>
              <a:rPr lang="ko-KR" altLang="en-US"/>
              <a:t>파싱</a:t>
            </a:r>
            <a:br>
              <a:rPr lang="ko-KR" altLang="en-US"/>
            </a:br>
            <a:r>
              <a:rPr lang="ko-KR" altLang="en-US"/>
              <a:t>데이터</a:t>
            </a:r>
            <a:br>
              <a:rPr lang="ko-KR" altLang="en-US"/>
            </a:br>
            <a:r>
              <a:rPr lang="ko-KR" altLang="en-US"/>
              <a:t>(JSON)</a:t>
            </a:r>
            <a:endParaRPr lang="ko-KR" altLang="en-US"/>
          </a:p>
        </p:txBody>
      </p:sp>
      <p:sp>
        <p:nvSpPr>
          <p:cNvPr id="9" name="Rounded Rectangle 8"/>
          <p:cNvSpPr/>
          <p:nvPr/>
        </p:nvSpPr>
        <p:spPr>
          <a:xfrm>
            <a:off x="5029200" y="1352550"/>
            <a:ext cx="1828800" cy="9099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120640" y="144399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rPr lang="ko-KR" altLang="en-US"/>
              <a:t>검증</a:t>
            </a:r>
            <a:br>
              <a:rPr lang="ko-KR" altLang="en-US"/>
            </a:br>
            <a:r>
              <a:rPr lang="ko-KR" altLang="en-US"/>
              <a:t>데이터</a:t>
            </a:r>
            <a:br>
              <a:rPr lang="ko-KR" altLang="en-US"/>
            </a:br>
            <a:r>
              <a:rPr lang="ko-KR" altLang="en-US"/>
              <a:t>(수정됨)</a:t>
            </a:r>
            <a:endParaRPr lang="ko-KR" altLang="en-US"/>
          </a:p>
        </p:txBody>
      </p:sp>
      <p:sp>
        <p:nvSpPr>
          <p:cNvPr id="11" name="Rounded Rectangle 10"/>
          <p:cNvSpPr/>
          <p:nvPr/>
        </p:nvSpPr>
        <p:spPr>
          <a:xfrm>
            <a:off x="7315200" y="1352550"/>
            <a:ext cx="1828800" cy="9099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7406640" y="144399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b1fa2"/>
                </a:solidFill>
              </a:defRPr>
            </a:pPr>
            <a:r>
              <a:rPr lang="ko-KR" altLang="en-US"/>
              <a:t>분석</a:t>
            </a:r>
            <a:br>
              <a:rPr lang="ko-KR" altLang="en-US"/>
            </a:br>
            <a:r>
              <a:rPr lang="ko-KR" altLang="en-US"/>
              <a:t>결과</a:t>
            </a:r>
            <a:br>
              <a:rPr lang="ko-KR" altLang="en-US"/>
            </a:br>
            <a:r>
              <a:rPr lang="ko-KR" altLang="en-US"/>
              <a:t>(확정)</a:t>
            </a: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331720" y="1809750"/>
            <a:ext cx="36576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6464"/>
                </a:solidFill>
              </a:defRPr>
            </a:pPr>
            <a:r>
              <a:rPr lang="ko-KR" altLang="en-US"/>
              <a:t>→</a:t>
            </a: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617720" y="1809750"/>
            <a:ext cx="36576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6464"/>
                </a:solidFill>
              </a:defRPr>
            </a:pPr>
            <a:r>
              <a:rPr lang="ko-KR" altLang="en-US"/>
              <a:t>→</a:t>
            </a: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903720" y="1809750"/>
            <a:ext cx="36576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6464"/>
                </a:solidFill>
              </a:defRPr>
            </a:pPr>
            <a:r>
              <a:rPr lang="ko-KR" altLang="en-US"/>
              <a:t>→</a:t>
            </a:r>
            <a:endParaRPr lang="ko-KR" altLang="en-US"/>
          </a:p>
        </p:txBody>
      </p:sp>
      <p:sp>
        <p:nvSpPr>
          <p:cNvPr id="16" name="Rounded Rectangle 15"/>
          <p:cNvSpPr/>
          <p:nvPr/>
        </p:nvSpPr>
        <p:spPr>
          <a:xfrm>
            <a:off x="5943600" y="3095625"/>
            <a:ext cx="182880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35040" y="3187065"/>
            <a:ext cx="1645920" cy="4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0012"/>
                </a:solidFill>
              </a:defRPr>
            </a:pPr>
            <a:r>
              <a:rPr lang="ko-KR" altLang="en-US"/>
              <a:t>골든셋</a:t>
            </a:r>
            <a:br>
              <a:rPr lang="ko-KR" altLang="en-US"/>
            </a:br>
            <a:r>
              <a:rPr lang="ko-KR" altLang="en-US"/>
              <a:t>(Excel)</a:t>
            </a:r>
            <a:endParaRPr lang="ko-KR" altLang="en-US"/>
          </a:p>
        </p:txBody>
      </p:sp>
      <p:sp>
        <p:nvSpPr>
          <p:cNvPr id="18" name="Rounded Rectangle 17"/>
          <p:cNvSpPr/>
          <p:nvPr/>
        </p:nvSpPr>
        <p:spPr>
          <a:xfrm>
            <a:off x="8686800" y="3095625"/>
            <a:ext cx="182880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8778240" y="3187065"/>
            <a:ext cx="1645920" cy="4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62828"/>
                </a:solidFill>
              </a:defRPr>
            </a:pPr>
            <a:r>
              <a:rPr lang="ko-KR" altLang="en-US"/>
              <a:t>ERP</a:t>
            </a:r>
            <a:br>
              <a:rPr lang="ko-KR" altLang="en-US"/>
            </a:br>
            <a:r>
              <a:rPr lang="ko-KR" altLang="en-US"/>
              <a:t>등록</a:t>
            </a: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7818120" y="3278505"/>
            <a:ext cx="36576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6464"/>
                </a:solidFill>
              </a:defRPr>
            </a:pPr>
            <a:r>
              <a:rPr lang="ko-KR" altLang="en-US"/>
              <a:t>→</a:t>
            </a: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46720" y="2455545"/>
            <a:ext cx="365760" cy="390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6464"/>
                </a:solidFill>
              </a:defRPr>
            </a:pPr>
            <a:r>
              <a:rPr lang="ko-KR" altLang="en-US"/>
              <a:t>↓</a:t>
            </a:r>
            <a:endParaRPr lang="ko-KR" altLang="en-US"/>
          </a:p>
        </p:txBody>
      </p:sp>
      <p:sp>
        <p:nvSpPr>
          <p:cNvPr id="22" name="Rounded Rectangle 21"/>
          <p:cNvSpPr/>
          <p:nvPr/>
        </p:nvSpPr>
        <p:spPr>
          <a:xfrm>
            <a:off x="548640" y="4351020"/>
            <a:ext cx="10972800" cy="219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rPr lang="ko-KR" altLang="en-US"/>
              <a:t>저장소 구조</a:t>
            </a:r>
            <a:endParaRPr lang="ko-KR" altLang="en-US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" y="4846320"/>
          <a:ext cx="10515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6400800"/>
              </a:tblGrid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저장소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용도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/>
                        <a:t>키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003875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localStorage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수식 데이터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cost-analysis-formulas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localStorage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현재 사용자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cost-analysis-current-user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localStorage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변경 요청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cost-analysis-change-requests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localStorage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파싱 노트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rPr lang="ko-KR" altLang="en-US"/>
                        <a:t>parsing-notes</a:t>
                      </a:r>
                      <a:endParaRPr lang="ko-KR" altLang="en-US"/>
                    </a:p>
                  </a:txBody>
                  <a:tcPr marL="91440" marR="9144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프로세스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14. 알림 및 액션 센터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Notification &amp; Action Center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4114800"/>
                <a:gridCol w="45720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우선순위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액션 연결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이상치 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긴급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재료비 항목 2건에서 시장가 대비 33% 초과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/analysis → 분석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 대기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주의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검증 완료 파일, 원가 분석을 시작하세요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/analysis → 분석 시작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처리 지연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주의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파일 파싱 오류, 3일째 대기 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/parsing_card → 재처리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ERP 등록 대기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정보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분석 완료, ERP 시스템에 데이터를 등록하세요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/parsing_card → ERP 등록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검증 진행 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자동 검증 프로세스 진행 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/parsing_card → 상태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인사이트 리포트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정보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원가 절감 포인트 3건 발견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/analysis → 인사이트 보기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003875"/>
                </a:solidFill>
              </a:defRPr>
            </a:pPr>
            <a:r>
              <a:t>대시보드 업무 알림 &amp; 액션 센터</a:t>
            </a: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• 각 알림 카드: 아이콘 + 우선순위 배지(긴급/주의/정보) + 제목 + 설명 + [액션 버튼]</a:t>
            </a: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• 긴급 알림 수 상단 배지로 표시</a:t>
            </a: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• 알림 클릭 시 해당 페이지로 바로 이동 (필터 적용 상태)</a:t>
            </a:r>
          </a:p>
          <a:p>
            <a:pPr>
              <a:spcAft>
                <a:spcPts val="400"/>
              </a:spcAft>
              <a:defRPr sz="1200">
                <a:solidFill>
                  <a:srgbClr val="191F28"/>
                </a:solidFill>
              </a:defRPr>
            </a:pPr>
            <a:r>
              <a:t>• 파일명, 업체명, 시간 정보 포함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프로세스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15. 비기능 요구사항 / 용어 정의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Non-Functional Requirements &amp; Glossary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50292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요구사항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응답 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페이지 로딩 2초 이내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Excel 파싱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파일당 5분 이내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브라우저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Chrome 90+, Edge 90+, Safari 15+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해상도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최소 1280×720, 권장 1920×1080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접근성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키보드 네비게이션, 스크린리더 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보안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사번 인증, 5회 잠금, 역할 기반 접근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188720"/>
          <a:ext cx="53035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93192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용어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골든셋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검증/분석 완료된 최종 원가계산서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파싱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Excel에서 AI가 데이터를 자동 추출하는 과정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이상치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AI가 감지한 비정상 원가 항목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신뢰도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AI 파싱 결과의 정확도 (0~100%)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변경 요청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일반 사용자의 수식 수정 승인 요청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적용 부서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8"/>
                          </a:solidFill>
                        </a:defRPr>
                      </a:pPr>
                      <a:r>
                        <a:t>수식이 적용되는 대상 부서 범위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4B4"/>
                </a:solidFill>
              </a:defRPr>
            </a:pPr>
            <a:r>
              <a:t>현대모비스 견적 원가 분석 시스템 — 프로세스 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</a:defRPr>
            </a:pPr>
            <a:r>
              <a:t>문의: 원가관리팀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2129</ep:Words>
  <ep:PresentationFormat>On-screen Show (4:3)</ep:PresentationFormat>
  <ep:Paragraphs>345</ep:Paragraphs>
  <ep:Slides>18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navyn</cp:lastModifiedBy>
  <dcterms:modified xsi:type="dcterms:W3CDTF">2026-04-07T04:26:31.852</dcterms:modified>
  <cp:revision>5</cp:revision>
  <cp:version/>
</cp:coreProperties>
</file>