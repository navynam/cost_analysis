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견적 원가 분석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8C8C8"/>
                </a:solidFill>
              </a:defRPr>
            </a:pPr>
            <a:r>
              <a:t>업무 프로세스 설명서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</a:defRPr>
            </a:pPr>
            <a:r>
              <a:t>현대모비스  |  원가관리팀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8C8C"/>
                </a:solidFill>
              </a:defRPr>
            </a:pPr>
            <a:r>
              <a:t>v2.0  |  2026.04.13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업무 프로세스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전체 업무 프로세스 흐름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8단계 프로세스: 업로드 → 검증 → 분석 → 비교 → 인사이트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377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t>업로드</a:t>
            </a:r>
            <a:br/>
            <a:r>
              <a:t>+자동파싱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46464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71600"/>
            <a:ext cx="2377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417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373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t>파싱 검증</a:t>
            </a:r>
            <a:br/>
            <a:r>
              <a:t>원본 대조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46464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2377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5CF6"/>
                </a:solidFill>
              </a:defRPr>
            </a:pPr>
            <a: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373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t>분석 요청</a:t>
            </a:r>
            <a:br/>
            <a:r>
              <a:t>(자동)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46464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371600"/>
            <a:ext cx="2377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417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17373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t>분석 완료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200400"/>
            <a:ext cx="2377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246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STEP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566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t>분석 상세</a:t>
            </a:r>
            <a:br/>
            <a:r>
              <a:t>오류 수정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3657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46464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3200400"/>
            <a:ext cx="2377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3246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C3545"/>
                </a:solidFill>
              </a:defRPr>
            </a:pPr>
            <a:r>
              <a:t>STEP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566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t>원본 피드백</a:t>
            </a:r>
            <a:br/>
            <a:r>
              <a:t>노트/하이라이트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3657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46464"/>
                </a:solidFill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200400"/>
            <a:ext cx="2377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246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C27B0"/>
                </a:solidFill>
              </a:defRPr>
            </a:pPr>
            <a:r>
              <a:t>STEP 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566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t>견적서</a:t>
            </a:r>
            <a:br/>
            <a:r>
              <a:t>비교 분석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3657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46464"/>
                </a:solidFill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00400"/>
            <a:ext cx="23774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3246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4FF"/>
                </a:solidFill>
              </a:defRPr>
            </a:pPr>
            <a:r>
              <a:t>STEP 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566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t>인사이트</a:t>
            </a:r>
            <a:br/>
            <a:r>
              <a:t>AI 질의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600">
                <a:solidFill>
                  <a:srgbClr val="E60012"/>
                </a:solidFill>
              </a:defRPr>
            </a:pPr>
            <a:r>
              <a:t>핵심 원칙</a:t>
            </a:r>
          </a:p>
          <a:p>
            <a:pPr>
              <a:spcAft>
                <a:spcPts val="300"/>
              </a:spcAft>
              <a:defRPr sz="1300">
                <a:solidFill>
                  <a:srgbClr val="191F28"/>
                </a:solidFill>
              </a:defRPr>
            </a:pPr>
            <a:r>
              <a:t>• 원본 데이터를 직접 수정하지 않습니다 — 노트와 하이라이트로 피드백만 전달</a:t>
            </a:r>
          </a:p>
          <a:p>
            <a:pPr>
              <a:spcAft>
                <a:spcPts val="300"/>
              </a:spcAft>
              <a:defRPr sz="1300">
                <a:solidFill>
                  <a:srgbClr val="191F28"/>
                </a:solidFill>
              </a:defRPr>
            </a:pPr>
            <a:r>
              <a:t>• 모든 계산의 근거와 수식을 투명하게 공개합니다</a:t>
            </a:r>
          </a:p>
          <a:p>
            <a:pPr>
              <a:spcAft>
                <a:spcPts val="300"/>
              </a:spcAft>
              <a:defRPr sz="1300">
                <a:solidFill>
                  <a:srgbClr val="191F28"/>
                </a:solidFill>
              </a:defRPr>
            </a:pPr>
            <a:r>
              <a:t>• 협력사가 원본을 직접 수정하여 데이터 정합성과 법적 효력을 보존합니다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업무 프로세스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STEP 1. Excel 파일 업로드 + 자동 파싱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견적서 파일을 업로드하면 AI가 자동으로 데이터를 추출합니다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업로드 팝업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1. 견적서 파일 선택 *필수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.xlsx / .xls 파일 선택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선택 시: 파일명 + 크기 표시 (초록 테두리)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2. 추가 파일 선택 (집계표)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선택사항 — 1개 파일 선택 가능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3. [추출 시작] 버튼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견적서 필수 선택 후 활성화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클릭 → AI 자동 파싱 시작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F59E0B"/>
                </a:solidFill>
              </a:defRPr>
            </a:pPr>
            <a:r>
              <a:t>진행 과정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• 프로그래스바로 진행률 실시간 표시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• 재료비 / 가공비 / 제경비 자동 분류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• 셀 좌표 매핑 (원본 Excel과 1:1)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• 완료 시 → '검증중' 상태로 전환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카드뷰 목록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상태별 카드 표시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• 추출중(자동): 프로그래스바 + 진행률%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→ 버튼: '처리중' (비활성)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• 검증중: 파싱 완료 결과 표시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→ 버튼: '검증하기' (활성)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• 검증완료: 분석 준비 완료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→ 버튼: '분석하기' (활성)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추가 기능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• 카드/리스트 뷰 전환 토글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• 상태별 필터 칩 (7개 상태)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• 파일명 검색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• 집계표 첨부 시 📎 아이콘 표시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→ 마우스 오버 시 파일명 툴팁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업무 프로세스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STEP 2. 파싱 데이터 검증 (원본 대조)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파싱된 표준 양식과 Excel 원본을 나란히 비교하며 셀 매핑을 확인합니다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</a:defRPr>
            </a:pPr>
            <a:r>
              <a:t>좌측: 파싱된 데이터 (표준 양식)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• [표준뷰] / [리스트뷰] 전환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• 카테고리별 계층 구조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- ■ 재료비 ▼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  ├─ SKIN(표피재) ⚠️  ₩18,920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  ├─ PP수지              ₩694.10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3B82F6"/>
                </a:solidFill>
              </a:defRPr>
            </a:pPr>
            <a:r>
              <a:t>항목 클릭 시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→ 우측 Excel 해당 셀 자동 하이라이트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→ 셀 매핑이 정확한지 시각적 확인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EF4444"/>
                </a:solidFill>
              </a:defRPr>
            </a:pPr>
            <a:r>
              <a:t>잘못된 매핑 발견 시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1. 우측 Excel에서 올바른 셀 클릭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2. [적용] 버튼으로 셀 매핑 보정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3. 수정 이력 자동 기록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D9488"/>
                </a:solidFill>
              </a:defRPr>
            </a:pPr>
            <a:r>
              <a:t>검증 완료 후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[검증 완료] → [분석 →] 버튼 활성화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</a:defRPr>
            </a:pPr>
            <a:r>
              <a:t>우측: Excel 원본 미리보기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• 실제 Excel 파일을 그대로 렌더링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• 셀 스타일, 테두리, 배경색, 폰트 보존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• 행/열 헤더 (A,B,C... / 1,2,3...)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• 좌우/상하 독립 스크롤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수식 바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셀 클릭 시 상단에 셀 주소 + 수식 표시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예: A1 | fx =SUM(B2:B10)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셀 하이라이트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좌측 항목 클릭 → 해당 셀 노란 배경 + 주황 아웃라인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Sheet 전환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Sheet Name 콤보로 다른 시트 확인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드래그 리사이즈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중앙 바 드래그로 좌우 비율 조절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업무 프로세스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STEP 3-4. 분석 요청 + 자동 분석 완료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검증 완료 후 자동 분석이 시작되며, 완료 시까지 다른 작업을 진행합니다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</a:defRPr>
            </a:pPr>
            <a:r>
              <a:t>STEP 3: 분석 요청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[분석 →] 버튼 클릭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확인 메시지: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'분석을 진행하시겠습니까?'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'자동 분석이 시작되며,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 완료까지 시간이 소요됩니다.'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[확인] 클릭 후: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1. 상태: 검증완료 → 분석중(자동)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2. '분석이 시작되었습니다' 알림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3. 목록 페이지로 자동 이동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8B5CF6"/>
                </a:solidFill>
              </a:defRPr>
            </a:pPr>
            <a:r>
              <a:t>왜 목록으로 이동하는가?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자동 분석은 일정 시간이 소요됩니다.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재료비/가공비/제경비 수식 검증,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시장가 비교, 과거 데이터 대조 등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복합적인 분석이 백그라운드에서 진행.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이 시간 동안 다른 견적서 작업 가능.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STEP 4: 분석 완료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목록에서 진행 상태 확인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분석중(자동) 카드: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┌────────────────┐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│  분석중(자동)     │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│  ████░░ 72%     │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│  [분석중...]     │  ← 비활성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└────────────────┘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분석 완료 카드: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┌────────────────┐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│  분석완료        │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│  📊 분석 완료    │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│  32항목 94% 3   │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│  [분석 결과 보기]│  ← 활성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└────────────────┘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[분석 결과 보기] → STEP 5로 이동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업무 프로세스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STEP 5. 분석 상세보기 + 오류 수정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4가지 뷰로 원가 구조를 분석하고, 이상치를 확인하며, 계산식을 검증합니다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286000"/>
                <a:gridCol w="758952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탭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용도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주요 기능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표준뷰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카테고리별 원가 구조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재료비/가공비/제경비 계층, 신뢰도 바, 이상치 AI 판단근거 팝오버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리스트뷰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항목별 상세 비교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평면 테이블, 정렬/검색, 이상치 인라인 편집 (단가/금액 수정)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관계도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항목 간 의존성 시각화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노드 그래프, 클릭 시 상세 패널 (금액/신뢰도/AI근거)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골든셋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최종 원가계산서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공식 양식, Excel 다운로드 (.xls), 인쇄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3200400"/>
            <a:ext cx="53035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이상치 감지 + AI 판단 근거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감지 기준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• 시장가 대비 33% 초과 → 이상치 판정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• 과거 3분기 평균 대비 편차 초과 → 경고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• 전체 비율 기준 비정상 → 주의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표시 방식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⚠️ 배지 → 클릭 시 AI 판단 근거 팝오버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'과거 3분기 평균 ₩14,200 대비 +33.2% 높음'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00400"/>
            <a:ext cx="53035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</a:defRPr>
            </a:pPr>
            <a:r>
              <a:t>계산식 검증 + 인라인 수정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749039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계산식 확인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금액 옆 💡 클릭 → 계산식 팝오버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'수량 × 단가 × (1+로스율)'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'= 1.2 × ₩18,917 × 1.0058 = ₩22,700'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인라인 수정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이상치 항목의 단가/금액 클릭 → 편집 모드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Enter 확정 / Esc 취소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수정 시 실시간 합계 재계산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업무 프로세스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STEP 6. 원본 데이터 피드백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원본을 직접 수정하지 않고, 노트와 하이라이트로 협력사에 피드백합니다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왜 원본 데이터를 직접 수정하면 안 되는가?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52120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011680"/>
                <a:gridCol w="210312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문제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직접 수정 시 (❌)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피드백 방식 (✅)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법적 효력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원본 진정성 훼손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원본 그대로 보존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감사 추적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변경 이력 추적 불가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피드백 이력 완전 기록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책임 소재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수정자 책임 불명확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작성자(협력사)가 직접 수정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데이터 정합성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원본 수식 깨짐 위험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원본 수식 완전 유지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재현 가능성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동일 분석 재현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언제든 동일 분석 반복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피드백 프로세스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1. 오류 항목에 노트 작성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 셀에 코멘트 추가: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 '이 단가는 시장가 대비 33% 높습니다.'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 '재확인 바랍니다.'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2. 주의 셀에 하이라이트 표시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 오류/주의 필요한 셀에 노란색 배경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3. 피드백 Excel 저장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 원본 + 노트/하이라이트 포함된 Excel 생성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4. 협력사에 반환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 피드백 파일 전달 → 수정 요청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5. 수정본 재제출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 협력사가 원본 수정 → 재업로드 → 재분석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400">
                <a:solidFill>
                  <a:srgbClr val="EF4444"/>
                </a:solidFill>
              </a:defRPr>
            </a:pPr>
            <a:r>
              <a:t>원칙: 원본은 보존, 피드백만 전달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5486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피드백 화면 예시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Excel 원본 미리보기: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┌────────────────────────────────┐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│ SKIN  PVC 0.8mm  M²  1.2  ██18,917██│ ← 하이라이트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│                    📝 '시장가 대비     │ ← 노트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│                       +33% 높음'      │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└────────────────────────────────┘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[피드백 저장]  [원본 다운로드]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업무 프로세스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STEP 7-8. 견적서 비교 + 인사이트 스튜디오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분석 완료된 데이터를 비교 분석하고, AI에게 질의합니다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C27B0"/>
                </a:solidFill>
              </a:defRPr>
            </a:pPr>
            <a:r>
              <a:t>STEP 7: 견적서 비교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3단계 비교 프로세스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Step 1: 아이템 선택 (코드/품명 검색)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Step 2: 비교 대상 선택 (2~4개 견적서)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Step 3: 비교 결과 (나란히 비교)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비교 결과 표시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• 업체별 원가 항목 컬럼 비교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• 최저가 ▼ 녹색 / 최고가 ▲ 빨간색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• 항목 클릭 → 계산식 비교 팝오버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비교 대상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• 이전 견적서: 분기별 원가 변동 추이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• 타 협력사: 동일 부품 가격 비교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• 시장 데이터: 원자재 시장가 대비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4FF"/>
                </a:solidFill>
              </a:defRPr>
            </a:pPr>
            <a:r>
              <a:t>STEP 8: 인사이트 스튜디오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AI 기반 질의응답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좌측: 세션 목록 관리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우측: 채팅 영역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질의 예시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🧑 '이 부품의 평균 원가는?'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🤖 '평균 생산원가: ₩2,844'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   '재료비 비중: 37.8%'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   '이상치 항목: 2건'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🧑 'SKIN 단가가 높은 이유?'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🤖 '과거 3분기 대비 +33.2% 높음'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   '수입 원자재 환율 영향 추정'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</a:p>
          <a:p>
            <a:pPr>
              <a:spcAft>
                <a:spcPts val="300"/>
              </a:spcAft>
              <a:defRPr b="1" sz="1200">
                <a:solidFill>
                  <a:srgbClr val="0A1628"/>
                </a:solidFill>
              </a:defRPr>
            </a:pPr>
            <a:r>
              <a:t>질의 가능 항목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원가 분석 / 이상치 분석 / 비교 분석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트렌드 분석 / 원가 절감 제안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업무 프로세스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기대 효과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시스템 도입으로 기대되는 업무 개선 효과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73152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효과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내용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세부 설명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업무 시간 절감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70% 이상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수작업 Excel 분석 대비 자동 파싱 + AI 분석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분석 정확도 향상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AI 이상치 감지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시장가/과거 데이터 자동 비교, 수식 검증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원가 절감 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절감 포인트 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이상치 감지 → 구체적 근거 제시 → 협상 자료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투명한 의사결정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수식 단위 추적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모든 계산의 근거를 투명하게 공개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협력사 커뮤니케이션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명확한 피드백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노트/하이라이트로 수정 요청 → 원본 보존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데이터 자산화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인사이트 활용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분석 결과 축적 → AI 질의응답으로 정보 취득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B4B4"/>
                </a:solidFill>
              </a:defRPr>
            </a:pPr>
            <a:r>
              <a:t>현대모비스 견적 원가 분석 시스템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