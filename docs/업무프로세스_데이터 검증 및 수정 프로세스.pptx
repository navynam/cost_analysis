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견적 원가 분석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8C8C8"/>
                </a:solidFill>
              </a:defRPr>
            </a:pPr>
            <a:r>
              <a:t>업무 프로세스 설명서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66845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</a:defRPr>
            </a:pPr>
            <a:r>
              <a:rPr dirty="0"/>
              <a:t>v2.0  |  2026.04.13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rPr dirty="0" err="1"/>
              <a:t>전체</a:t>
            </a:r>
            <a:r>
              <a:rPr dirty="0"/>
              <a:t> </a:t>
            </a:r>
            <a:r>
              <a:rPr dirty="0" err="1"/>
              <a:t>업무</a:t>
            </a:r>
            <a:r>
              <a:rPr dirty="0"/>
              <a:t> </a:t>
            </a:r>
            <a:r>
              <a:rPr dirty="0" err="1"/>
              <a:t>프로세스</a:t>
            </a:r>
            <a:r>
              <a:rPr dirty="0"/>
              <a:t> </a:t>
            </a:r>
            <a:r>
              <a:rPr dirty="0" err="1"/>
              <a:t>흐름</a:t>
            </a:r>
            <a:endParaRPr dirty="0"/>
          </a:p>
          <a:p>
            <a:pPr>
              <a:defRPr sz="1400">
                <a:solidFill>
                  <a:srgbClr val="646464"/>
                </a:solidFill>
              </a:defRPr>
            </a:pPr>
            <a:r>
              <a:rPr dirty="0"/>
              <a:t>8단계 </a:t>
            </a:r>
            <a:r>
              <a:rPr dirty="0" err="1"/>
              <a:t>프로세스</a:t>
            </a:r>
            <a:r>
              <a:rPr dirty="0"/>
              <a:t>: </a:t>
            </a:r>
            <a:r>
              <a:rPr dirty="0" err="1"/>
              <a:t>업로드</a:t>
            </a:r>
            <a:r>
              <a:rPr dirty="0"/>
              <a:t> → </a:t>
            </a:r>
            <a:r>
              <a:rPr dirty="0" err="1"/>
              <a:t>검증</a:t>
            </a:r>
            <a:r>
              <a:rPr dirty="0"/>
              <a:t> → </a:t>
            </a:r>
            <a:r>
              <a:rPr dirty="0" err="1"/>
              <a:t>분석</a:t>
            </a:r>
            <a:r>
              <a:rPr dirty="0"/>
              <a:t> → </a:t>
            </a:r>
            <a:r>
              <a:rPr dirty="0" err="1"/>
              <a:t>비교</a:t>
            </a:r>
            <a:r>
              <a:rPr dirty="0"/>
              <a:t> → </a:t>
            </a:r>
            <a:r>
              <a:rPr dirty="0" err="1"/>
              <a:t>인사이트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400800" y="1259287"/>
            <a:ext cx="2149171" cy="109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259287"/>
            <a:ext cx="2149171" cy="109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05006"/>
            <a:ext cx="198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5046"/>
            <a:ext cx="1983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rPr dirty="0" err="1"/>
              <a:t>업로드</a:t>
            </a:r>
            <a:br>
              <a:rPr dirty="0"/>
            </a:br>
            <a:r>
              <a:rPr dirty="0"/>
              <a:t>+</a:t>
            </a:r>
            <a:r>
              <a:rPr dirty="0" err="1"/>
              <a:t>자동파싱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474720" y="1259287"/>
            <a:ext cx="2149171" cy="109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305006"/>
            <a:ext cx="198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625046"/>
            <a:ext cx="1983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파싱 검증</a:t>
            </a:r>
            <a:br/>
            <a:r>
              <a:t>원본 대조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305006"/>
            <a:ext cx="198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25046"/>
            <a:ext cx="1983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분석 요청</a:t>
            </a:r>
            <a:br/>
            <a:r>
              <a:t>(자동)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259287"/>
            <a:ext cx="2149171" cy="109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1305006"/>
            <a:ext cx="198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1625047"/>
            <a:ext cx="1983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완료</a:t>
            </a:r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2397153" y="2800744"/>
            <a:ext cx="3200400" cy="1127101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97153" y="3052923"/>
            <a:ext cx="3017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3545"/>
                </a:solidFill>
              </a:defRPr>
            </a:pPr>
            <a:r>
              <a:rPr dirty="0"/>
              <a:t>🔄 </a:t>
            </a: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수정본</a:t>
            </a:r>
            <a:r>
              <a:rPr dirty="0"/>
              <a:t> </a:t>
            </a:r>
            <a:r>
              <a:rPr dirty="0" err="1"/>
              <a:t>재업로드</a:t>
            </a:r>
            <a:r>
              <a:rPr dirty="0"/>
              <a:t> → </a:t>
            </a:r>
            <a:r>
              <a:rPr dirty="0" err="1"/>
              <a:t>재분석</a:t>
            </a:r>
            <a:endParaRPr lang="en-US" dirty="0"/>
          </a:p>
          <a:p>
            <a:pPr algn="ctr">
              <a:defRPr sz="1100" b="1">
                <a:solidFill>
                  <a:srgbClr val="DC3545"/>
                </a:solidFill>
              </a:defRPr>
            </a:pPr>
            <a:endParaRPr lang="en-US" dirty="0"/>
          </a:p>
          <a:p>
            <a:pPr algn="ctr">
              <a:defRPr sz="1100" b="1">
                <a:solidFill>
                  <a:srgbClr val="DC3545"/>
                </a:solidFill>
              </a:defRPr>
            </a:pPr>
            <a:r>
              <a:rPr lang="ko-KR" altLang="en-US" dirty="0"/>
              <a:t>엑셀 </a:t>
            </a:r>
            <a:r>
              <a:rPr lang="ko-KR" altLang="en-US" dirty="0" err="1"/>
              <a:t>에</a:t>
            </a:r>
            <a:r>
              <a:rPr lang="ko-KR" altLang="en-US" dirty="0"/>
              <a:t> 오류 및 수정 사항 노트 및 셀 </a:t>
            </a:r>
            <a:r>
              <a:rPr lang="ko-KR" altLang="en-US" dirty="0" err="1"/>
              <a:t>하일라이트</a:t>
            </a:r>
            <a:r>
              <a:rPr lang="ko-KR" altLang="en-US" dirty="0"/>
              <a:t> 로 확인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548640" y="572295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E60012"/>
                </a:solidFill>
              </a:defRPr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원칙</a:t>
            </a:r>
            <a:endParaRPr dirty="0"/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rPr dirty="0"/>
              <a:t>• </a:t>
            </a:r>
            <a:r>
              <a:rPr dirty="0" err="1"/>
              <a:t>원본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수정하지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 — </a:t>
            </a:r>
            <a:r>
              <a:rPr dirty="0" err="1"/>
              <a:t>노트와</a:t>
            </a:r>
            <a:r>
              <a:rPr dirty="0"/>
              <a:t> </a:t>
            </a:r>
            <a:r>
              <a:rPr dirty="0" err="1"/>
              <a:t>하이라이트로</a:t>
            </a:r>
            <a:r>
              <a:rPr dirty="0"/>
              <a:t> </a:t>
            </a:r>
            <a:r>
              <a:rPr dirty="0" err="1"/>
              <a:t>피드백만</a:t>
            </a:r>
            <a:r>
              <a:rPr dirty="0"/>
              <a:t> </a:t>
            </a:r>
            <a:r>
              <a:rPr dirty="0" err="1"/>
              <a:t>전달</a:t>
            </a:r>
            <a:r>
              <a:rPr dirty="0"/>
              <a:t>  •  </a:t>
            </a:r>
            <a:r>
              <a:rPr dirty="0" err="1"/>
              <a:t>협력사가</a:t>
            </a:r>
            <a:r>
              <a:rPr dirty="0"/>
              <a:t> </a:t>
            </a:r>
            <a:r>
              <a:rPr dirty="0" err="1"/>
              <a:t>원본을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수정하여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정합성과</a:t>
            </a:r>
            <a:r>
              <a:rPr dirty="0"/>
              <a:t> </a:t>
            </a:r>
            <a:r>
              <a:rPr dirty="0" err="1"/>
              <a:t>법적</a:t>
            </a:r>
            <a:r>
              <a:rPr dirty="0"/>
              <a:t> </a:t>
            </a:r>
            <a:r>
              <a:rPr dirty="0" err="1"/>
              <a:t>효력을</a:t>
            </a:r>
            <a:r>
              <a:rPr dirty="0"/>
              <a:t> </a:t>
            </a:r>
            <a:r>
              <a:rPr dirty="0" err="1"/>
              <a:t>보존합니다</a:t>
            </a:r>
            <a:endParaRPr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67C3C0A-8DEB-4508-1C7E-1AA3AC848AE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697811" y="1806537"/>
            <a:ext cx="7769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061B4F3-CEA8-B038-AFBD-DD1E9F3520A2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623891" y="1806537"/>
            <a:ext cx="7769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14A0B2CF-8B05-68FE-2A36-AFE307FC1240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8549971" y="1806537"/>
            <a:ext cx="7769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19">
            <a:extLst>
              <a:ext uri="{FF2B5EF4-FFF2-40B4-BE49-F238E27FC236}">
                <a16:creationId xmlns:a16="http://schemas.microsoft.com/office/drawing/2014/main" id="{A6215625-8709-F072-69DF-A039D029C7E2}"/>
              </a:ext>
            </a:extLst>
          </p:cNvPr>
          <p:cNvSpPr/>
          <p:nvPr/>
        </p:nvSpPr>
        <p:spPr>
          <a:xfrm>
            <a:off x="9326880" y="4313987"/>
            <a:ext cx="2149171" cy="109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916DEB-B86B-05A4-689E-0E38F1E65637}"/>
              </a:ext>
            </a:extLst>
          </p:cNvPr>
          <p:cNvSpPr txBox="1"/>
          <p:nvPr/>
        </p:nvSpPr>
        <p:spPr>
          <a:xfrm>
            <a:off x="9418320" y="4359706"/>
            <a:ext cx="198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STEP 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F1545C-2F17-D294-4D1B-E7205FF69D6C}"/>
              </a:ext>
            </a:extLst>
          </p:cNvPr>
          <p:cNvSpPr txBox="1"/>
          <p:nvPr/>
        </p:nvSpPr>
        <p:spPr>
          <a:xfrm>
            <a:off x="9418320" y="4679746"/>
            <a:ext cx="1983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상세</a:t>
            </a:r>
            <a:br>
              <a:rPr dirty="0"/>
            </a:br>
            <a:r>
              <a:rPr dirty="0" err="1"/>
              <a:t>오류</a:t>
            </a:r>
            <a:r>
              <a:rPr dirty="0"/>
              <a:t> </a:t>
            </a:r>
            <a:r>
              <a:rPr dirty="0" err="1"/>
              <a:t>수정</a:t>
            </a:r>
            <a:r>
              <a:rPr lang="en-US" dirty="0"/>
              <a:t> ( </a:t>
            </a:r>
            <a:r>
              <a:rPr lang="ko-KR" altLang="en-US" dirty="0"/>
              <a:t>직접 수정 </a:t>
            </a:r>
            <a:r>
              <a:rPr lang="en-US" altLang="ko-KR" dirty="0"/>
              <a:t>)</a:t>
            </a:r>
            <a:endParaRPr dirty="0"/>
          </a:p>
        </p:txBody>
      </p:sp>
      <p:sp>
        <p:nvSpPr>
          <p:cNvPr id="57" name="Rounded Rectangle 23">
            <a:extLst>
              <a:ext uri="{FF2B5EF4-FFF2-40B4-BE49-F238E27FC236}">
                <a16:creationId xmlns:a16="http://schemas.microsoft.com/office/drawing/2014/main" id="{24E28B36-3280-3791-2DE5-2D9DD02436EE}"/>
              </a:ext>
            </a:extLst>
          </p:cNvPr>
          <p:cNvSpPr/>
          <p:nvPr/>
        </p:nvSpPr>
        <p:spPr>
          <a:xfrm>
            <a:off x="6374462" y="2810683"/>
            <a:ext cx="2149171" cy="109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447015-E0FF-5ED3-68CE-EE6479BB1183}"/>
              </a:ext>
            </a:extLst>
          </p:cNvPr>
          <p:cNvSpPr txBox="1"/>
          <p:nvPr/>
        </p:nvSpPr>
        <p:spPr>
          <a:xfrm>
            <a:off x="6465902" y="2856402"/>
            <a:ext cx="198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3545"/>
                </a:solidFill>
              </a:defRPr>
            </a:pPr>
            <a:r>
              <a:t>STEP 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867E427-275A-6B83-B9B1-04C3045704DD}"/>
              </a:ext>
            </a:extLst>
          </p:cNvPr>
          <p:cNvSpPr txBox="1"/>
          <p:nvPr/>
        </p:nvSpPr>
        <p:spPr>
          <a:xfrm>
            <a:off x="6465902" y="3176442"/>
            <a:ext cx="1983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t>원본 피드백</a:t>
            </a:r>
            <a:br/>
            <a:r>
              <a:t>노트/하이라이트</a:t>
            </a:r>
          </a:p>
        </p:txBody>
      </p:sp>
      <p:sp>
        <p:nvSpPr>
          <p:cNvPr id="60" name="Rounded Rectangle 27">
            <a:extLst>
              <a:ext uri="{FF2B5EF4-FFF2-40B4-BE49-F238E27FC236}">
                <a16:creationId xmlns:a16="http://schemas.microsoft.com/office/drawing/2014/main" id="{2F173F99-8D7B-0DE7-A4C8-F89AF2F73FFF}"/>
              </a:ext>
            </a:extLst>
          </p:cNvPr>
          <p:cNvSpPr/>
          <p:nvPr/>
        </p:nvSpPr>
        <p:spPr>
          <a:xfrm>
            <a:off x="6400800" y="4318755"/>
            <a:ext cx="2149171" cy="109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80944E-3377-4E6D-B6D6-D0B42AECA474}"/>
              </a:ext>
            </a:extLst>
          </p:cNvPr>
          <p:cNvSpPr txBox="1"/>
          <p:nvPr/>
        </p:nvSpPr>
        <p:spPr>
          <a:xfrm>
            <a:off x="6492240" y="4364474"/>
            <a:ext cx="198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C27B0"/>
                </a:solidFill>
              </a:defRPr>
            </a:pPr>
            <a:r>
              <a:t>STEP 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2EA7C1-901F-A792-D07C-CFADD7263476}"/>
              </a:ext>
            </a:extLst>
          </p:cNvPr>
          <p:cNvSpPr txBox="1"/>
          <p:nvPr/>
        </p:nvSpPr>
        <p:spPr>
          <a:xfrm>
            <a:off x="6492240" y="4684514"/>
            <a:ext cx="1983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628"/>
                </a:solidFill>
              </a:defRPr>
            </a:pPr>
            <a:r>
              <a:rPr lang="ko-KR" altLang="en-US" dirty="0"/>
              <a:t>검토 및 저장</a:t>
            </a:r>
            <a:endParaRPr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8909E7BD-B404-082C-8A37-281287B91C18}"/>
              </a:ext>
            </a:extLst>
          </p:cNvPr>
          <p:cNvCxnSpPr>
            <a:cxnSpLocks/>
            <a:stCxn id="17" idx="2"/>
            <a:endCxn id="54" idx="0"/>
          </p:cNvCxnSpPr>
          <p:nvPr/>
        </p:nvCxnSpPr>
        <p:spPr>
          <a:xfrm>
            <a:off x="10401466" y="2353787"/>
            <a:ext cx="0" cy="1960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6D40854-95AD-8A0D-55A6-6B2BBEF14F5A}"/>
              </a:ext>
            </a:extLst>
          </p:cNvPr>
          <p:cNvCxnSpPr>
            <a:cxnSpLocks/>
            <a:stCxn id="54" idx="1"/>
            <a:endCxn id="60" idx="3"/>
          </p:cNvCxnSpPr>
          <p:nvPr/>
        </p:nvCxnSpPr>
        <p:spPr>
          <a:xfrm flipH="1">
            <a:off x="8549971" y="4861237"/>
            <a:ext cx="776909" cy="4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573D83C5-D8F7-8FA1-18C4-9F94229081D2}"/>
              </a:ext>
            </a:extLst>
          </p:cNvPr>
          <p:cNvCxnSpPr>
            <a:cxnSpLocks/>
            <a:stCxn id="57" idx="1"/>
            <a:endCxn id="40" idx="3"/>
          </p:cNvCxnSpPr>
          <p:nvPr/>
        </p:nvCxnSpPr>
        <p:spPr>
          <a:xfrm flipH="1">
            <a:off x="5597553" y="3357933"/>
            <a:ext cx="776909" cy="6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107E5F81-B7A2-7BE6-F4F1-01511AF75B8A}"/>
              </a:ext>
            </a:extLst>
          </p:cNvPr>
          <p:cNvCxnSpPr>
            <a:cxnSpLocks/>
            <a:stCxn id="17" idx="2"/>
            <a:endCxn id="57" idx="3"/>
          </p:cNvCxnSpPr>
          <p:nvPr/>
        </p:nvCxnSpPr>
        <p:spPr>
          <a:xfrm rot="5400000">
            <a:off x="8960477" y="1916944"/>
            <a:ext cx="1004146" cy="18778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E1CA4A3B-2AEE-EE72-8FDA-64461F2D185E}"/>
              </a:ext>
            </a:extLst>
          </p:cNvPr>
          <p:cNvCxnSpPr>
            <a:cxnSpLocks/>
            <a:stCxn id="41" idx="1"/>
            <a:endCxn id="5" idx="2"/>
          </p:cNvCxnSpPr>
          <p:nvPr/>
        </p:nvCxnSpPr>
        <p:spPr>
          <a:xfrm rot="10800000">
            <a:off x="1623227" y="2353788"/>
            <a:ext cx="773927" cy="10838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순서도: 자기 디스크 86">
            <a:extLst>
              <a:ext uri="{FF2B5EF4-FFF2-40B4-BE49-F238E27FC236}">
                <a16:creationId xmlns:a16="http://schemas.microsoft.com/office/drawing/2014/main" id="{6768F5E9-0711-9A6B-CF82-57D1560BEB0A}"/>
              </a:ext>
            </a:extLst>
          </p:cNvPr>
          <p:cNvSpPr/>
          <p:nvPr/>
        </p:nvSpPr>
        <p:spPr>
          <a:xfrm>
            <a:off x="3155674" y="4303045"/>
            <a:ext cx="1649896" cy="1127101"/>
          </a:xfrm>
          <a:prstGeom prst="flowChartMagneticDisk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인사이트 </a:t>
            </a:r>
            <a:r>
              <a:rPr lang="en-US" altLang="ko-KR" dirty="0"/>
              <a:t>&amp;  </a:t>
            </a:r>
            <a:r>
              <a:rPr lang="ko-KR" altLang="en-US" dirty="0"/>
              <a:t>비교</a:t>
            </a: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EDE69DC6-C9E8-69DF-2852-D35CEA8B187C}"/>
              </a:ext>
            </a:extLst>
          </p:cNvPr>
          <p:cNvCxnSpPr>
            <a:cxnSpLocks/>
            <a:stCxn id="60" idx="1"/>
            <a:endCxn id="87" idx="4"/>
          </p:cNvCxnSpPr>
          <p:nvPr/>
        </p:nvCxnSpPr>
        <p:spPr>
          <a:xfrm flipH="1">
            <a:off x="4805570" y="4866005"/>
            <a:ext cx="1595230" cy="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1. Excel 파일 업로드 + 자동 파싱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견적서 파일을 업로드하면 AI가 자동으로 데이터를 추출합니다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46282" cy="5029200"/>
          </a:xfrm>
          <a:prstGeom prst="roundRect">
            <a:avLst>
              <a:gd name="adj" fmla="val 5403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업로드 팝업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1. 견적서 파일 선택 *필수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.xlsx / .xls 파일 선택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선택 시: 파일명 + 크기 표시 (초록 테두리)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2. 추가 파일 선택 (집계표)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선택사항 — 1개 파일 선택 가능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3. [추출 시작] 버튼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견적서 필수 선택 후 활성화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클릭 → AI 자동 파싱 시작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F59E0B"/>
                </a:solidFill>
              </a:defRPr>
            </a:pPr>
            <a:r>
              <a:t>진행 과정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프로그래스바로 진행률 실시간 표시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재료비 / 가공비 / 제경비 자동 분류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셀 좌표 매핑 (원본 Excel과 1:1)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완료 시 → '검증중' 상태로 전환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B4444C9-82E4-6620-ED52-6123529ED8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1" t="4019" r="26886" b="-4019"/>
          <a:stretch>
            <a:fillRect/>
          </a:stretch>
        </p:blipFill>
        <p:spPr>
          <a:xfrm>
            <a:off x="4412974" y="1296539"/>
            <a:ext cx="7354956" cy="4973534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448BDF04-0227-96D0-126E-37019FC72757}"/>
              </a:ext>
            </a:extLst>
          </p:cNvPr>
          <p:cNvSpPr/>
          <p:nvPr/>
        </p:nvSpPr>
        <p:spPr>
          <a:xfrm>
            <a:off x="5546035" y="2286000"/>
            <a:ext cx="2971800" cy="210709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2. 파싱 데이터 검증 (원본 대조)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파싱된 표준 양식과 Excel 원본을 나란히 비교하며 셀 매핑을 확인합니다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327621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</a:defRPr>
            </a:pPr>
            <a:r>
              <a:rPr lang="ko-KR" altLang="en-US" dirty="0"/>
              <a:t>좌측</a:t>
            </a:r>
            <a:r>
              <a:rPr lang="en-US" altLang="ko-KR" dirty="0"/>
              <a:t>: </a:t>
            </a:r>
            <a:r>
              <a:rPr lang="ko-KR" altLang="en-US" dirty="0" err="1"/>
              <a:t>파싱된</a:t>
            </a:r>
            <a:r>
              <a:rPr lang="ko-KR" altLang="en-US" dirty="0"/>
              <a:t> 데이터 </a:t>
            </a:r>
            <a:r>
              <a:rPr lang="en-US" altLang="ko-KR" dirty="0"/>
              <a:t>(</a:t>
            </a:r>
            <a:r>
              <a:rPr lang="ko-KR" altLang="en-US" dirty="0"/>
              <a:t>표준 양식</a:t>
            </a:r>
            <a:r>
              <a:rPr lang="en-US" altLang="ko-KR" dirty="0"/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82668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[표준뷰] / [리스트뷰] 전환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• 카테고리별 계층 구조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- ■ 재료비 ▼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 ├─ SKIN(표피재) ⚠️  ₩18,920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 ├─ PP수지              ₩694.10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3B82F6"/>
                </a:solidFill>
              </a:defRPr>
            </a:pPr>
            <a:r>
              <a:t>항목 클릭 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우측 Excel 해당 셀 자동 하이라이트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→ 셀 매핑이 정확한지 시각적 확인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EF4444"/>
                </a:solidFill>
              </a:defRPr>
            </a:pPr>
            <a:r>
              <a:t>잘못된 매핑 발견 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1. 우측 Excel에서 올바른 셀 클릭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2. [적용] 버튼으로 셀 매핑 보정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3. 수정 이력 자동 기록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D9488"/>
                </a:solidFill>
              </a:defRPr>
            </a:pPr>
            <a:r>
              <a:t>검증 완료 후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[검증 완료] → [분석 →] 버튼 활성화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04F8E0D-62B7-79C2-FCAC-07D92D488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141" y="1129798"/>
            <a:ext cx="7739390" cy="398681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C8BA820-26FD-CE4F-1459-600F68B10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315" y="3287077"/>
            <a:ext cx="5975557" cy="27037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3-4. 분석 요청 + 자동 분석 완료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검증 완료 후 자동 분석이 시작되며, 완료 시까지 다른 작업을 진행합니다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48266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STEP 3: 분석 요청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[분석 →] 버튼 클릭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확인 메시지: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'분석을 진행하시겠습니까?'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'자동 분석이 시작되며,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완료까지 시간이 소요됩니다.'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[확인] 클릭 후: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1. 상태: 검증완료 → 분석중(자동)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2. '분석이 시작되었습니다' 알림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3. 목록 페이지로 자동 이동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8B5CF6"/>
                </a:solidFill>
              </a:defRPr>
            </a:pPr>
            <a:r>
              <a:t>왜 목록으로 이동하는가?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자동 분석은 일정 시간이 소요됩니다.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재료비/가공비/제경비 수식 검증,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시장가 비교, 과거 데이터 대조 등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복합적인 분석이 백그라운드에서 진행.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이 시간 동안 다른 견적서 작업 가능.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998D2F9-17E7-F108-C1FE-4C09330E1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027" y="1686753"/>
            <a:ext cx="7854439" cy="402853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37ED5E-D1FB-692F-F5E6-7E5913719FA9}"/>
              </a:ext>
            </a:extLst>
          </p:cNvPr>
          <p:cNvSpPr/>
          <p:nvPr/>
        </p:nvSpPr>
        <p:spPr>
          <a:xfrm>
            <a:off x="9611952" y="3339549"/>
            <a:ext cx="2160229" cy="170978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분석중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E46D1D-64EB-A82A-037A-B26A09ADBD4B}"/>
              </a:ext>
            </a:extLst>
          </p:cNvPr>
          <p:cNvSpPr/>
          <p:nvPr/>
        </p:nvSpPr>
        <p:spPr>
          <a:xfrm>
            <a:off x="7386162" y="3342425"/>
            <a:ext cx="2160229" cy="170978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분석완료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5. 분석 상세보기 + 오류 수정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4가지 뷰로 원가 구조를 분석하고, 이상치를 확인하며, 계산식을 검증합니다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탭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표준뷰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카테고리별 원가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재료비/가공비/제경비 계층, 신뢰도 바, 이상치 AI 판단근거 팝오버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리스트뷰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항목별 상세 비교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평면 테이블, 정렬/검색, 이상치 인라인 편집 (단가/금액 수정)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관계도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항목 간 의존성 시각화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노드 그래프, 클릭 시 상세 패널 (금액/신뢰도/AI근거)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골든셋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최종 원가계산서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공식 양식, Excel 다운로드 (.xls), 인쇄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20040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이상치 감지 + AI 판단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감지 기준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시장가 대비 33% 초과 → 이상치 판정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과거 3분기 평균 대비 편차 초과 → 경고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• 전체 비율 기준 비정상 → 주의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표시 방식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⚠️ 배지 → 클릭 시 AI 판단 근거 팝오버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'과거 3분기 평균 ₩14,200 대비 +33.2% 높음'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00400"/>
            <a:ext cx="53035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</a:defRPr>
            </a:pPr>
            <a:r>
              <a:t>계산식 검증 + 인라인 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계산식 확인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금액 옆 💡 클릭 → 계산식 팝오버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'수량 × 단가 × (1+로스율)'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'= 1.2 × ₩18,917 × 1.0058 = ₩22,700'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인라인 수정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이상치 항목의 단가/금액 클릭 → 편집 모드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Enter 확정 / Esc 취소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수정 시 실시간 합계 재계산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A6B83-0D81-868D-39BD-F174A358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146D9A-3A37-2A3A-36AF-EAA066347CD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B0B6E6-53D6-8EAF-8A95-5259F8B60E54}"/>
              </a:ext>
            </a:extLst>
          </p:cNvPr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C2976-AC5F-FC99-26F7-B083C66AE5E4}"/>
              </a:ext>
            </a:extLst>
          </p:cNvPr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5. 분석 상세보기 + 오류 수정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4가지 뷰로 원가 구조를 분석하고, 이상치를 확인하며, 계산식을 검증합니다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745AC9A-692E-A192-65E9-F123E866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53" y="1325636"/>
            <a:ext cx="7066033" cy="331991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26C3FAC-B2CD-E052-24C9-DFD51A65C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425" y="958388"/>
            <a:ext cx="1677853" cy="242608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FE22DD1-C9CA-2339-2A52-AF3E40F4B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2044" y="3466032"/>
            <a:ext cx="2724530" cy="146705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52DAA7A-8035-3DF3-1B35-06B5D7444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8346" y="3473527"/>
            <a:ext cx="5301325" cy="282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620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6. 원본 데이터 피드백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원본을 직접 수정하지 않고, 노트와 하이라이트로 협력사에 피드백합니다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왜 원본 데이터를 직접 수정하면 안 되는가?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52120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문제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직접 수정 시 (❌)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피드백 방식 (✅)</a:t>
                      </a:r>
                    </a:p>
                  </a:txBody>
                  <a:tcPr>
                    <a:solidFill>
                      <a:srgbClr val="003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법적 효력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원본 진정성 훼손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원본 그대로 보존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감사 추적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변경 이력 추적 불가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피드백 이력 완전 기록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책임 소재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수정자 책임 불명확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작성자(협력사)가 직접 수정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데이터 정합성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원본 수식 깨짐 위험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원본 수식 완전 유지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재현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t>동일 분석 재현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91F28"/>
                          </a:solidFill>
                        </a:defRPr>
                      </a:pPr>
                      <a:r>
                        <a:rPr dirty="0" err="1"/>
                        <a:t>언제든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동일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분석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반복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188720"/>
            <a:ext cx="5303520" cy="5029200"/>
          </a:xfrm>
          <a:prstGeom prst="roundRect">
            <a:avLst>
              <a:gd name="adj" fmla="val 6147"/>
            </a:avLst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피드백 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1. 오류 항목에 노트 작성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셀에 코멘트 추가: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'이 단가는 시장가 대비 33% 높습니다.'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'재확인 바랍니다.'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2. 주의 셀에 하이라이트 표시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오류/주의 필요한 셀에 노란색 배경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3. 피드백 Excel 저장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원본 + 노트/하이라이트 포함된 Excel 생성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4. 협력사에 반환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피드백 파일 전달 → 수정 요청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 b="1">
                <a:solidFill>
                  <a:srgbClr val="0A1628"/>
                </a:solidFill>
              </a:defRPr>
            </a:pPr>
            <a:r>
              <a:t>5. 수정본 재제출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 협력사가 원본 수정 → 재업로드 → 재분석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400" b="1">
                <a:solidFill>
                  <a:srgbClr val="EF4444"/>
                </a:solidFill>
              </a:defRPr>
            </a:pPr>
            <a:r>
              <a:t>원칙: 원본은 보존, 피드백만 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4864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피드백 화면 예시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Excel 원본 미리보기: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┌────────────────────────────────┐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SKIN  PVC 0.8mm  M²  1.2  ██18,917██│ ← 하이라이트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                  📝 '시장가 대비     │ ← 노트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│                       +33% 높음'      │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└────────────────────────────────┘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100">
                <a:solidFill>
                  <a:srgbClr val="191F28"/>
                </a:solidFill>
              </a:defRPr>
            </a:pPr>
            <a:r>
              <a:t>  [피드백 저장]  [원본 다운로드]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9B9B9-F500-AAE2-CBC4-7A134353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05B5BD-2B73-95D9-A02D-6E2CD1B04A1D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FA54BF-EF67-90B6-A3BA-BC18BBB88327}"/>
              </a:ext>
            </a:extLst>
          </p:cNvPr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969696"/>
                </a:solidFill>
              </a:defRPr>
            </a:pPr>
            <a:r>
              <a:t>현대모비스 견적 원가 분석 시스템  |  업무 프로세스  | 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A1BB49-AE39-5321-D561-776ED799D368}"/>
              </a:ext>
            </a:extLst>
          </p:cNvPr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628"/>
                </a:solidFill>
              </a:defRPr>
            </a:pPr>
            <a:r>
              <a:t>STEP 6. 원본 데이터 피드백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원본을 직접 수정하지 않고, 노트와 하이라이트로 협력사에 피드백합니다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B2A989C-F7AD-0C06-0FD5-34BE9B462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79" y="935998"/>
            <a:ext cx="9040595" cy="495238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3C522D-078A-5781-90C3-5A2B0BADF9DC}"/>
              </a:ext>
            </a:extLst>
          </p:cNvPr>
          <p:cNvSpPr/>
          <p:nvPr/>
        </p:nvSpPr>
        <p:spPr>
          <a:xfrm>
            <a:off x="4516616" y="1861557"/>
            <a:ext cx="4978192" cy="3412058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오류 </a:t>
            </a:r>
            <a:r>
              <a:rPr lang="ko-KR" altLang="en-US" dirty="0" err="1">
                <a:solidFill>
                  <a:srgbClr val="FF0000"/>
                </a:solidFill>
              </a:rPr>
              <a:t>하일라이트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633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1051</Words>
  <Application>Microsoft Office PowerPoint</Application>
  <PresentationFormat>와이드스크린</PresentationFormat>
  <Paragraphs>186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남중 김</cp:lastModifiedBy>
  <cp:revision>5</cp:revision>
  <dcterms:created xsi:type="dcterms:W3CDTF">2013-01-27T09:14:16Z</dcterms:created>
  <dcterms:modified xsi:type="dcterms:W3CDTF">2026-04-13T02:47:43Z</dcterms:modified>
  <cp:category/>
</cp:coreProperties>
</file>