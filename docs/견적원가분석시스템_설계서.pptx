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견적 원가 분석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C8C8"/>
                </a:solidFill>
              </a:defRPr>
            </a:pPr>
            <a:r>
              <a:t>화면 설계서 &amp; 프로세스 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</a:defRPr>
            </a:pPr>
            <a:r>
              <a:t>현대모비스  |  원가관리팀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</a:defRPr>
            </a:pPr>
            <a:r>
              <a:t>v2.0  |  2026.04.07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목차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1. 시스템 개요 및 기술 스택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2. 전체 업무 프로세스 흐름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3. 메뉴 구조 및 화면 맵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4. [화면] 로그인 / 대시보드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5. [화면] 견적서 분석 (테이블뷰 / 카드뷰)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6. [화면] 데이터 검증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7. [화면] 원가 분석 (표준/리스트/관계도/골든셋)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8. [화면] 견적서 비교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9. [화면] 모델관리 / 변경 요청 워크플로우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10. [화면] 인사이트 스튜디오 / 이력·알림 / 설정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11. [프로세스] 5단계 메인 워크플로우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12. [프로세스] 상태 전이 / 이상치 감지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13. [프로세스] 모델관리 변경 요청 프로세스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14. 사용자 역할 및 권한 매트릭스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</a:defRPr>
            </a:pPr>
            <a:r>
              <a:t>15. 비기능 요구사항 / 용어 정의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1. 시스템 개요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b="1" sz="1400">
                <a:solidFill>
                  <a:srgbClr val="003875"/>
                </a:solidFill>
              </a:defRPr>
            </a:pPr>
            <a:r>
              <a:t>목적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견적서(Excel)를 업로드하면 AI가 자동으로 데이터를 추출하고,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검증/분석/비교를 통해 원가 적정성을 판단하며,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최종적으로 ERP 시스템에 등록할 데이터를 생성합니다.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017520"/>
          <a:ext cx="50292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React 18 + 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UI Framework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MUI (Material-UI) v5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차트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Recharts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Excel 처리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SheetJS (xlsx)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라우팅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React Router v6 (HashRouter)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배포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GitHub Pages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b="1" sz="1400">
                <a:solidFill>
                  <a:srgbClr val="003875"/>
                </a:solidFill>
              </a:defRPr>
            </a:pPr>
            <a:r>
              <a:t>핵심 기능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1. AI 자동 파싱 — Excel 견적서 구조 자동 인식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2. 원본 대조 검증 — 좌우 분할 비교 화면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3. 이상치 감지 — AI 판단근거 제공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4. 골든셋 생성 — 원가계산서 Excel 다운로드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5. 견적서 비교 — 최대 4개 동시 비교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6. 모델관리 — 역할 기반 수식 변경 워크플로우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7. AI 인사이트 — 채팅 기반 원가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2. 전체 업무 프로세스 흐름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Main Workflow: 업로드 → 추출 → 검증 → 분석 → ERP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4FF"/>
                </a:solidFill>
              </a:defRPr>
            </a:pPr>
            <a:r>
              <a:t>1단계</a:t>
            </a:r>
            <a:br/>
            <a:r>
              <a:t>파일 업로드</a:t>
            </a:r>
            <a:br/>
            <a:r>
              <a:t>+ 자동추출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/parsing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187451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716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63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</a:defRPr>
            </a:pPr>
            <a:r>
              <a:t>2단계</a:t>
            </a:r>
            <a:br/>
            <a:r>
              <a:t>데이터</a:t>
            </a:r>
            <a:br/>
            <a:r>
              <a:t>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/verification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87451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3716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1463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3단계</a:t>
            </a:r>
            <a:br/>
            <a:r>
              <a:t>원가</a:t>
            </a:r>
            <a:br/>
            <a:r>
              <a:t>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/analysis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87451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3716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463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C27B0"/>
                </a:solidFill>
              </a:defRPr>
            </a:pPr>
            <a:r>
              <a:t>4단계</a:t>
            </a:r>
            <a:br/>
            <a:r>
              <a:t>견적서</a:t>
            </a:r>
            <a:br/>
            <a:r>
              <a:t>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/comparison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87451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3716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1463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0012"/>
                </a:solidFill>
              </a:defRPr>
            </a:pPr>
            <a:r>
              <a:t>5단계</a:t>
            </a:r>
            <a:br/>
            <a:r>
              <a:t>결과 저장</a:t>
            </a:r>
            <a:br/>
            <a:r>
              <a:t>ERP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골든셋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875"/>
                </a:solidFill>
              </a:defRPr>
            </a:pPr>
            <a:r>
              <a:t>상태 전이도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023360"/>
          <a:ext cx="10972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200400"/>
                <a:gridCol w="32004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전이 조건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다음 상태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추출중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AI가 Excel에서 데이터를 추출하는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 업로드 시 자동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검증중 /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추출된 데이터의 정확성 검토 단계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추출 완료 시 자동 전환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검증이 완료되어 분석 준비된 상태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사용자가 검증 완료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원가 분석이 진행 중인 상태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사용자가 분석 시작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 완료, 골든셋 생성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 프로세스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ERP 등록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실패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추출 과정에서 오류 발생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 형식 오류 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재업로드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3. 메뉴 구조 및 화면 맵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Navigation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743200" cy="50292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560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59"/>
              </a:spcAft>
              <a:defRPr b="1" sz="1300">
                <a:solidFill>
                  <a:srgbClr val="FFFFFF"/>
                </a:solidFill>
              </a:defRPr>
            </a:pPr>
            <a:r>
              <a:t>  모비스 로고  견적서 분석</a:t>
            </a:r>
          </a:p>
          <a:p>
            <a:pPr>
              <a:spcAft>
                <a:spcPts val="959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959"/>
              </a:spcAft>
              <a:defRPr b="0" sz="1200">
                <a:solidFill>
                  <a:srgbClr val="FFFFFF"/>
                </a:solidFill>
              </a:defRPr>
            </a:pPr>
            <a:r>
              <a:t>  대시보드</a:t>
            </a:r>
          </a:p>
          <a:p>
            <a:pPr>
              <a:spcAft>
                <a:spcPts val="959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959"/>
              </a:spcAft>
              <a:defRPr b="0" sz="1000">
                <a:solidFill>
                  <a:srgbClr val="969696"/>
                </a:solidFill>
              </a:defRPr>
            </a:pPr>
            <a:r>
              <a:t>  ── 분석 플로우 ──</a:t>
            </a:r>
          </a:p>
          <a:p>
            <a:pPr>
              <a:spcAft>
                <a:spcPts val="959"/>
              </a:spcAft>
              <a:defRPr b="0" sz="1200">
                <a:solidFill>
                  <a:srgbClr val="FFFFFF"/>
                </a:solidFill>
              </a:defRPr>
            </a:pPr>
            <a:r>
              <a:t>  견적서 분석</a:t>
            </a:r>
          </a:p>
          <a:p>
            <a:pPr>
              <a:spcAft>
                <a:spcPts val="959"/>
              </a:spcAft>
              <a:defRPr b="0" sz="1200">
                <a:solidFill>
                  <a:srgbClr val="FFFFFF"/>
                </a:solidFill>
              </a:defRPr>
            </a:pPr>
            <a:r>
              <a:t>  견적서 분석(Card)</a:t>
            </a:r>
          </a:p>
          <a:p>
            <a:pPr>
              <a:spcAft>
                <a:spcPts val="959"/>
              </a:spcAft>
              <a:defRPr b="0" sz="1200">
                <a:solidFill>
                  <a:srgbClr val="FFFFFF"/>
                </a:solidFill>
              </a:defRPr>
            </a:pPr>
            <a:r>
              <a:t>  견적서 비교</a:t>
            </a:r>
          </a:p>
          <a:p>
            <a:pPr>
              <a:spcAft>
                <a:spcPts val="959"/>
              </a:spcAft>
              <a:defRPr b="0" sz="1200">
                <a:solidFill>
                  <a:srgbClr val="FFFFFF"/>
                </a:solidFill>
              </a:defRPr>
            </a:pPr>
            <a:r>
              <a:t>  인사이트 스튜디오</a:t>
            </a:r>
          </a:p>
          <a:p>
            <a:pPr>
              <a:spcAft>
                <a:spcPts val="959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959"/>
              </a:spcAft>
              <a:defRPr b="0" sz="1000">
                <a:solidFill>
                  <a:srgbClr val="969696"/>
                </a:solidFill>
              </a:defRPr>
            </a:pPr>
            <a:r>
              <a:t>  ── 관리 ──</a:t>
            </a:r>
          </a:p>
          <a:p>
            <a:pPr>
              <a:spcAft>
                <a:spcPts val="959"/>
              </a:spcAft>
              <a:defRPr b="0" sz="1200">
                <a:solidFill>
                  <a:srgbClr val="FFFFFF"/>
                </a:solidFill>
              </a:defRPr>
            </a:pPr>
            <a:r>
              <a:t>  모델관리</a:t>
            </a:r>
          </a:p>
          <a:p>
            <a:pPr>
              <a:spcAft>
                <a:spcPts val="959"/>
              </a:spcAft>
              <a:defRPr b="0" sz="1200">
                <a:solidFill>
                  <a:srgbClr val="FFFFFF"/>
                </a:solidFill>
              </a:defRPr>
            </a:pPr>
            <a:r>
              <a:t>  이력/알림</a:t>
            </a:r>
          </a:p>
          <a:p>
            <a:pPr>
              <a:spcAft>
                <a:spcPts val="959"/>
              </a:spcAft>
              <a:defRPr b="0" sz="1200">
                <a:solidFill>
                  <a:srgbClr val="FFFFFF"/>
                </a:solidFill>
              </a:defRPr>
            </a:pPr>
            <a:r>
              <a:t>  설정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0" y="1188720"/>
          <a:ext cx="77724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371600"/>
                <a:gridCol w="91440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화면 ID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경로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로그인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사번 기반 인증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대시보드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/dashboard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전체 현황 요약 + 알림 센터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견적서 분석 (테이블)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1단계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 업로드 + 테이블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견적서 분석 (카드)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/parsing_card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1단계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 업로드 + 카드 그리드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데이터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2단계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좌우 분할 원본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원가 분석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/analysis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3단계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4탭 뷰 + 골든셋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견적서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4단계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3단계 스텝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SCR-008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인사이트 스튜디오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/insight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보조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AI 채팅 분석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모델관리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보조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수식 관리 + 변경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이력/알림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/history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보조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타임라인 + 알림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SCR-011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보조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프로필, 비밀번호, 테마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4. 로그인 / 대시보드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SCR-001, SCR-002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875"/>
                </a:solidFill>
              </a:defRPr>
            </a:pPr>
            <a:r>
              <a:t>SCR-001  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화면 구성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중앙 정렬 카드 레이아웃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모비스 로고 + '견적 원가 분석 시스템' 타이틀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사번 입력 필드 (Person 아이콘)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비밀번호 입력 필드 (Lock 아이콘 + 표시/숨김 토글)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로그인 버튼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비밀번호 찾기 / 변경 링크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주요 기능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사번 + 비밀번호 기반 인증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5회 연속 실패 시 계정 자동 잠금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react-hook-form 기반 실시간 유효성 검사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875"/>
                </a:solidFill>
              </a:defRPr>
            </a:pPr>
            <a:r>
              <a:t>SCR-002  대시보드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화면 구성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상단: 4개 요약 카드 (총 견적서, 검증완료율, 이상치, 평균원가)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중단 좌: 내가 해야할 작업 (6개 상태 카드 3×2)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추출중 / 검증중 / 검증완료 / 분석중 / 분석완료 / 실패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클릭 시 해당 상태로 필터링된 파싱 페이지 이동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중단 우: 최근 검증 현황 도넛 차트 + 우측 범례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하단: 업무 알림 &amp; 액션 센터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업무 알림 유형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긴급: 이상치 감지 → [분석 검토]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주의: 분석 대기 / 처리 지연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정보: ERP 등록 대기 / 인사이트 리포트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5. 견적서 분석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SCR-003 테이블뷰  /  SCR-004 카드뷰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SCR-003  테이블뷰 (/parsing)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상단 영역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힌트 가이드: 5단계 프로세스 안내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툴바: 타이틀 + [파일 업로드] + 검색 + [필터]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상태 필터 칩: 전체/추출중/검증중/검증완료/분석중/분석완료/실패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파일 테이블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컬럼: □ 파일명 / 상태 / 항목수 / 신뢰도 / 업로드일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드래그앤드롭 업로드 지원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체크박스 선택 → 일괄 삭제/다운로드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행 클릭 → 파일 상세 드로어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주요 기능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실시간 파일명 검색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상세 필터 다이얼로그 (기간, 부서, 상태)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상태별 건수 실시간 카운트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SCR-004  카드뷰 (/parsing_card)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카드 구조 (360px 고정 높이)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헤더: [상태 배지] + 파일명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정보: 📁 파일크기  📅 업로드일  👤 업로더  🏢 부서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동적 콘텐츠 (상태별 다름):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추출중: 프로그래스바 + 진행률%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검증중/완료: 파싱항목 / 신뢰도% / 이상치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실패: 오류 사유 메시지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버튼: [노트(N)] + [검증하기/분석하기/오류확인]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레이아웃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반응형 그리드: 3열(데스크톱) / 2열(태블릿) / 1열(모바일)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카드 hover: 살짝 올라감 + 그림자 + 파란 테두리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노트 기능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파일별 노트 작성/저장 (localStorage)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AI 분석 버튼: 파일 상태 기반 자동 분석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6. 데이터 검증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SCR-005  좌우 분할 원본 대조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b="1" sz="1400">
                <a:solidFill>
                  <a:srgbClr val="003875"/>
                </a:solidFill>
              </a:defRPr>
            </a:pPr>
            <a:r>
              <a:t>화면 레이아웃: 좌우 분할 (드래그 리사이즈 가능)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좌측: 파싱된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2가지 뷰 모드: [표준뷰] / [리스트뷰]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표준뷰: 카테고리별 계층 구조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■ 재료비 ▼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  ├─ SKIN(표피재) ⚠️  ₩18,920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  ├─ PP수지              ₩694.10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  └─ TPE                 ₩119.19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■ 가공비 ▼ / ■ 제경비 ▼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신뢰도 색상 코딩: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초록: 높음 (90%+)  노랑: 보통 (70~90%)  빨강: 낮음 (&lt;70%)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이상치 ⚠️ 배지 → 클릭 시 AI 판단근거 팝오버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더블클릭 → 인라인 편집 (수정자/시간 자동 기록)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우측: 원본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원본 Excel 파일 렌더링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좌측 항목 클릭 시 해당 셀 자동 하이라이트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셀 좌표 기반 1:1 매핑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핵심 인터랙션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좌측 '재료비 &gt; SKIN(표피재)' 클릭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→ 우측 Excel B2 셀 자동 하이라이트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좌측 값 수정 → 우측과 차이 시각적 표시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200">
                <a:solidFill>
                  <a:srgbClr val="0A1628"/>
                </a:solidFill>
              </a:defRPr>
            </a:pPr>
            <a:r>
              <a:t>상단 정보 바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← 목록 (뒤로) | 파일명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파싱 24항목 | 이상치 2건 | 신뢰도 92%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[저장] [완료] 버튼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7. 원가 분석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SCR-006  4탭 뷰 (표준 / 리스트 / 관계도 / 골든셋)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758952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탭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표준뷰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카테고리별 원가 구조 파악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재료비/가공비/제경비 계층 구조, 신뢰도 바, 이상치 AI 판단근거 팝오버, 인라인 편집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리스트뷰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항목별 상세 비교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평면 테이블, 정렬/검색, 이상치 풍선 도움말, 인라인 편집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관계도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항목 간 의존성 파악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노드 그래프, 클릭 시 우측 상세 패널 (금액/신뢰도/AI근거), 원본 데이터 보기 버튼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골든셋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최종 원가계산서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공식 양식 (원가계산서), Excel 다운로드 (.xls), 인쇄 기능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20040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이상치 감지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AI 엔진이 자동 감지: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시장가 대비 33% 초과 → 이상치 판정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과거 3분기 평균 대비 편차 초과 → 경고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전체 비율 기준 비정상 → 주의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표시 방식: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⚠️ 배지 + 클릭 시 AI 판단근거 팝오버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예: '과거 3분기 평균 ₩14,200 대비 +33.2% 높음'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골든셋 Excel 다운로드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원가계산서 양식 그대로 Excel (.xls) 다운로드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한 장의 시트에 화면 동일 디자인 포함: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타이틀 15pt / 중간타이틀 12pt / 일반 10pt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셀 테두리 (#333)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헤더 배경색 (#dce6f0)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합계 열 초록 배경 (#c6e0b4)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포함 내용: 문서 정보 + 원가 요약 + 재료비 내역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+ 가공비 내역 + 서명란 + 결정단가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8. 견적서 비교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SCR-007  3단계 스텝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b="1" sz="1600">
                <a:solidFill>
                  <a:srgbClr val="003875"/>
                </a:solidFill>
              </a:defRPr>
            </a:pPr>
            <a:r>
              <a:t>Step 1: 아이템 선택  →  Step 2: 견적서 선택 (2~4개)  →  Step 3: 비교 결과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32004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사용자 액션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시스템 처리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화면 요소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Step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아이템 코드/품명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해당 아이템의 견적서 목록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검색 입력 + 아이템 테이블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Step 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비교할 견적서 2~4개 선택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선택된 견적서 데이터 로드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체크박스 선택 리스트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Step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비교 결과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항목별 나란히 비교 + 최저/최고가 강조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비교 테이블 + 계산식 팝오버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b="1" sz="1400">
                <a:solidFill>
                  <a:srgbClr val="003875"/>
                </a:solidFill>
              </a:defRPr>
            </a:pPr>
            <a:r>
              <a:t>비교 결과 표시 방식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• 각 업체별 원가 항목을 컬럼으로 나란히 표시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• 최저가 항목: ▼ 표시 + 녹색 강조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• 최고가 항목: ▲ 표시 + 빨간색 강조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• 항목 클릭 시 계산식 비교 팝오버 (각 업체의 산출 방식 확인)</a:t>
            </a:r>
          </a:p>
          <a:p>
            <a:pPr>
              <a:spcAft>
                <a:spcPts val="720"/>
              </a:spcAft>
              <a:defRPr sz="1200">
                <a:solidFill>
                  <a:srgbClr val="191F28"/>
                </a:solidFill>
              </a:defRPr>
            </a:pPr>
            <a:r>
              <a:t>• 총원가 합계 행: 굵은 글씨 + 배경색 강조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9. 모델관리 / 변경 요청 워크플로우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SCR-009  역할 기반 수식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모델 관리 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수식 카드 목록 (생산원가, 재료비, 가공비, 제경비율)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각 카드: 수식명 + [핵심/하위/비율] 배지 + 수식 표현식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변수 칩 목록 + 적용 부서 칩 (전체/개별 부서)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관리자: [편집] [삭제] 버튼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일반 사용자: [수정 요청] 버튼 (이미 접수 시 비활성)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변경 요청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상단 필터: [전체] [대기] [승인] [반려] 클릭 필터링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각 요청 카드: 요청자/부서/시간 + 상태 배지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diff 표시: - 원본 (빨강) / + 변경 (초록)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추가된 변수 칩 표시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관리자: [검토 및 승인] [반려] 버튼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승인 시: 적용 부서 체크박스 선택 → 수식에 즉시 반영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본인 요청: [요청 취소] 버튼 (대기 상태에서만)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변경 요청 워크플로우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b="1" sz="1200">
                <a:solidFill>
                  <a:srgbClr val="7B1FA2"/>
                </a:solidFill>
              </a:defRPr>
            </a:pPr>
            <a:r>
              <a:t>일반 사용자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수정 요청 제출 (변경 내용 + 사유)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또는 새 수식 추가 요청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      │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      ▼</a:t>
            </a:r>
          </a:p>
          <a:p>
            <a:pPr>
              <a:spcAft>
                <a:spcPts val="660"/>
              </a:spcAft>
              <a:defRPr b="1" sz="1200">
                <a:solidFill>
                  <a:srgbClr val="E65100"/>
                </a:solidFill>
              </a:defRPr>
            </a:pPr>
            <a:r>
              <a:t>변경 요청 탭 [대기]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      │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      ▼</a:t>
            </a:r>
          </a:p>
          <a:p>
            <a:pPr>
              <a:spcAft>
                <a:spcPts val="660"/>
              </a:spcAft>
              <a:defRPr b="1" sz="1200">
                <a:solidFill>
                  <a:srgbClr val="003875"/>
                </a:solidFill>
              </a:defRPr>
            </a:pPr>
            <a:r>
              <a:t>관리자 검토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├── 승인: 적용 부서 선택 (체크박스)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│    - 전체 / 원가관리팀 / 견적1팀 / 견적2팀 ...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│    → 선택된 부서에 수식 즉시 반영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└── 반려: 반려 사유 코멘트 작성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200">
                <a:solidFill>
                  <a:srgbClr val="2E7D32"/>
                </a:solidFill>
              </a:defRPr>
            </a:pPr>
            <a:r>
              <a:t>부서별 적용 예시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원본: 재료비 = Σ(단가 × 수량 × (1+로스율))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승인(견적1팀만):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  견적1팀: 재료비 = Σ(단가×수량×(1+로스율)×환율보정)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  나머지: 원본 수식 유지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10. 인사이트 스튜디오 / 이력·알림 / 설정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SCR-008, SCR-010, SCR-011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875"/>
                </a:solidFill>
              </a:defRPr>
            </a:pPr>
            <a:r>
              <a:t>인사이트 스튜디오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AI 기반 원가 분석 채팅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좌측: 세션 목록 관리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우측: 채팅 영역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예제 칩으로 빠른 질문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사용자: 파란색 (우측)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- AI: 회색 (좌측)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타임스탬프 표시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[+ 새 대화] 버튼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875"/>
                </a:solidFill>
              </a:defRPr>
            </a:pPr>
            <a:r>
              <a:t>이력 /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b="1" sz="1100">
                <a:solidFill>
                  <a:srgbClr val="0A1628"/>
                </a:solidFill>
              </a:defRPr>
            </a:pPr>
            <a:r>
              <a:t>[작업이력 탭]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타임라인 형식 표시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유형 필터: 전체/업로드/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  파싱/검증/비교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상태별 색상 구분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100">
                <a:solidFill>
                  <a:srgbClr val="0A1628"/>
                </a:solidFill>
              </a:defRPr>
            </a:pPr>
            <a:r>
              <a:t>[알림 탭]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읽음/미읽음 구분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미읽음: 배경색 + 파란 점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[모두 읽음] 일괄 처리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미읽음 배지 카운트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875"/>
                </a:solidFill>
              </a:defRPr>
            </a:pPr>
            <a:r>
              <a:t>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b="1" sz="1100">
                <a:solidFill>
                  <a:srgbClr val="0A1628"/>
                </a:solidFill>
              </a:defRPr>
            </a:pPr>
            <a:r>
              <a:t>[프로필]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이름, 부서, 연락처 수정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100">
                <a:solidFill>
                  <a:srgbClr val="0A1628"/>
                </a:solidFill>
              </a:defRPr>
            </a:pPr>
            <a:r>
              <a:t>[비밀번호 변경]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현재/새/확인 비밀번호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100">
                <a:solidFill>
                  <a:srgbClr val="0A1628"/>
                </a:solidFill>
              </a:defRPr>
            </a:pPr>
            <a:r>
              <a:t>[알림 설정]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이메일/푸시 토글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660"/>
              </a:spcAft>
              <a:defRPr b="1" sz="1100">
                <a:solidFill>
                  <a:srgbClr val="0A1628"/>
                </a:solidFill>
              </a:defRPr>
            </a:pPr>
            <a:r>
              <a:t>[테마/언어]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현대모비스 / Toss 테마</a:t>
            </a:r>
          </a:p>
          <a:p>
            <a:pPr>
              <a:spcAft>
                <a:spcPts val="660"/>
              </a:spcAft>
              <a:defRPr sz="1100">
                <a:solidFill>
                  <a:srgbClr val="191F28"/>
                </a:solidFill>
              </a:defRPr>
            </a:pPr>
            <a:r>
              <a:t>• 한국어 / English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14. 사용자 역할 및 권한 매트릭스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Role-Based Access Control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관리자 (김관리)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일반 사용자 (이분석, 박검증)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 업로드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데이터 검증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원가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견적서 비교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골든셋 Excel 다운로드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수식 직접 편집/삭제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X (요청만 가능)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새 수식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X (추가 요청만 가능)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변경 요청 승인/반려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적용 부서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요청 취소 (본인 대기 건)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부서 목록: 전체 / 원가관리팀 / 견적1팀 / 견적2팀 / 견적3팀 / 구매팀 / 품질팀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15. 비기능 요구사항 / 용어 정의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Non-Functional Requirements &amp; Glossary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50292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요구사항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응답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페이지 로딩 2초 이내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Excel 파싱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파일당 5분 이내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브라우저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Chrome 90+, Edge 90+, Safari 15+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해상도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최소 1280×720, 권장 1920×1080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접근성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키보드 네비게이션, 스크린리더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보안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사번 인증, 5회 잠금, 역할 기반 접근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188720"/>
          <a:ext cx="5303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93192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용어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골든셋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검증/분석 완료된 최종 원가계산서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Excel에서 AI가 데이터를 자동 추출하는 과정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이상치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AI가 감지한 비정상 원가 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신뢰도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AI 파싱 결과의 정확도 (0~100%)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변경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일반 사용자의 수식 수정 승인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적용 부서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수식이 적용되는 대상 부서 범위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</a:defRPr>
            </a:pPr>
            <a:r>
              <a:t>현대모비스 견적 원가 분석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</a:defRPr>
            </a:pPr>
            <a:r>
              <a:t>문의: 원가관리팀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